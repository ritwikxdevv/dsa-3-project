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libri (MS) Bold" charset="1" panose="020F0702030404030204"/>
      <p:regular r:id="rId18"/>
    </p:embeddedFont>
    <p:embeddedFont>
      <p:font typeface="Calibri (MS)" charset="1" panose="020F0502020204030204"/>
      <p:regular r:id="rId19"/>
    </p:embeddedFont>
    <p:embeddedFont>
      <p:font typeface="Times New Roman" charset="1" panose="02020603050405020304"/>
      <p:regular r:id="rId20"/>
    </p:embeddedFont>
    <p:embeddedFont>
      <p:font typeface="Times New Roman Bold" charset="1" panose="020208030705050203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2792911" y="1541659"/>
            <a:ext cx="13716000" cy="3475053"/>
            <a:chOff x="0" y="0"/>
            <a:chExt cx="18288000" cy="4633404"/>
          </a:xfrm>
        </p:grpSpPr>
        <p:sp>
          <p:nvSpPr>
            <p:cNvPr name="Freeform 9" id="9"/>
            <p:cNvSpPr/>
            <p:nvPr/>
          </p:nvSpPr>
          <p:spPr>
            <a:xfrm flipH="false" flipV="false" rot="0">
              <a:off x="0" y="0"/>
              <a:ext cx="18288000" cy="4633404"/>
            </a:xfrm>
            <a:custGeom>
              <a:avLst/>
              <a:gdLst/>
              <a:ahLst/>
              <a:cxnLst/>
              <a:rect r="r" b="b" t="t" l="l"/>
              <a:pathLst>
                <a:path h="4633404" w="18288000">
                  <a:moveTo>
                    <a:pt x="0" y="0"/>
                  </a:moveTo>
                  <a:lnTo>
                    <a:pt x="18288000" y="0"/>
                  </a:lnTo>
                  <a:lnTo>
                    <a:pt x="18288000" y="4633404"/>
                  </a:lnTo>
                  <a:lnTo>
                    <a:pt x="0" y="4633404"/>
                  </a:lnTo>
                  <a:close/>
                </a:path>
              </a:pathLst>
            </a:custGeom>
            <a:blipFill>
              <a:blip r:embed="rId3">
                <a:alphaModFix amt="0"/>
              </a:blip>
              <a:stretch>
                <a:fillRect l="0" t="-26907" r="0" b="-26907"/>
              </a:stretch>
            </a:blipFill>
          </p:spPr>
        </p:sp>
        <p:sp>
          <p:nvSpPr>
            <p:cNvPr name="TextBox 10" id="10"/>
            <p:cNvSpPr txBox="true"/>
            <p:nvPr/>
          </p:nvSpPr>
          <p:spPr>
            <a:xfrm>
              <a:off x="0" y="-85725"/>
              <a:ext cx="18288000" cy="4719129"/>
            </a:xfrm>
            <a:prstGeom prst="rect">
              <a:avLst/>
            </a:prstGeom>
          </p:spPr>
          <p:txBody>
            <a:bodyPr anchor="b" rtlCol="false" tIns="0" lIns="0" bIns="0" rIns="0"/>
            <a:lstStyle/>
            <a:p>
              <a:pPr algn="ctr">
                <a:lnSpc>
                  <a:spcPts val="9720"/>
                </a:lnSpc>
              </a:pPr>
            </a:p>
            <a:p>
              <a:pPr algn="ctr">
                <a:lnSpc>
                  <a:spcPts val="9720"/>
                </a:lnSpc>
              </a:pPr>
            </a:p>
            <a:p>
              <a:pPr algn="ctr">
                <a:lnSpc>
                  <a:spcPts val="9720"/>
                </a:lnSpc>
              </a:pPr>
            </a:p>
            <a:p>
              <a:pPr algn="ctr">
                <a:lnSpc>
                  <a:spcPts val="9720"/>
                </a:lnSpc>
              </a:pPr>
            </a:p>
            <a:p>
              <a:pPr algn="ctr">
                <a:lnSpc>
                  <a:spcPts val="9720"/>
                </a:lnSpc>
              </a:pPr>
            </a:p>
            <a:p>
              <a:pPr algn="ctr">
                <a:lnSpc>
                  <a:spcPts val="9720"/>
                </a:lnSpc>
              </a:pPr>
            </a:p>
            <a:p>
              <a:pPr algn="ctr">
                <a:lnSpc>
                  <a:spcPts val="6480"/>
                </a:lnSpc>
              </a:pPr>
            </a:p>
            <a:p>
              <a:pPr algn="ctr">
                <a:lnSpc>
                  <a:spcPts val="6480"/>
                </a:lnSpc>
              </a:pPr>
              <a:r>
                <a:rPr lang="en-US" sz="6000" b="true">
                  <a:solidFill>
                    <a:srgbClr val="C00000"/>
                  </a:solidFill>
                  <a:latin typeface="Calibri (MS) Bold"/>
                  <a:ea typeface="Calibri (MS) Bold"/>
                  <a:cs typeface="Calibri (MS) Bold"/>
                  <a:sym typeface="Calibri (MS) Bold"/>
                </a:rPr>
                <a:t>Data Structures and Algorithms -3 (25CS2103E)</a:t>
              </a:r>
            </a:p>
            <a:p>
              <a:pPr algn="ctr">
                <a:lnSpc>
                  <a:spcPts val="6480"/>
                </a:lnSpc>
              </a:pPr>
            </a:p>
            <a:p>
              <a:pPr algn="ctr">
                <a:lnSpc>
                  <a:spcPts val="6480"/>
                </a:lnSpc>
              </a:pPr>
              <a:r>
                <a:rPr lang="en-US" sz="6000" b="true">
                  <a:solidFill>
                    <a:srgbClr val="C00000"/>
                  </a:solidFill>
                  <a:latin typeface="Calibri (MS) Bold"/>
                  <a:ea typeface="Calibri (MS) Bold"/>
                  <a:cs typeface="Calibri (MS) Bold"/>
                  <a:sym typeface="Calibri (MS) Bold"/>
                </a:rPr>
                <a:t>Title of the project</a:t>
              </a:r>
            </a:p>
          </p:txBody>
        </p:sp>
      </p:grpSp>
      <p:sp>
        <p:nvSpPr>
          <p:cNvPr name="TextBox 11" id="11"/>
          <p:cNvSpPr txBox="true"/>
          <p:nvPr/>
        </p:nvSpPr>
        <p:spPr>
          <a:xfrm rot="0">
            <a:off x="6496679" y="5296957"/>
            <a:ext cx="6644049" cy="5039355"/>
          </a:xfrm>
          <a:prstGeom prst="rect">
            <a:avLst/>
          </a:prstGeom>
        </p:spPr>
        <p:txBody>
          <a:bodyPr anchor="t" rtlCol="false" tIns="0" lIns="0" bIns="0" rIns="0">
            <a:spAutoFit/>
          </a:bodyPr>
          <a:lstStyle/>
          <a:p>
            <a:pPr algn="ctr">
              <a:lnSpc>
                <a:spcPts val="3888"/>
              </a:lnSpc>
            </a:pPr>
            <a:r>
              <a:rPr lang="en-US" sz="3600" b="true">
                <a:solidFill>
                  <a:srgbClr val="000000"/>
                </a:solidFill>
                <a:latin typeface="Calibri (MS) Bold"/>
                <a:ea typeface="Calibri (MS) Bold"/>
                <a:cs typeface="Calibri (MS) Bold"/>
                <a:sym typeface="Calibri (MS) Bold"/>
              </a:rPr>
              <a:t>TEAM MEMBERS</a:t>
            </a:r>
          </a:p>
          <a:p>
            <a:pPr algn="ctr">
              <a:lnSpc>
                <a:spcPts val="3024"/>
              </a:lnSpc>
            </a:pPr>
          </a:p>
          <a:p>
            <a:pPr algn="ctr">
              <a:lnSpc>
                <a:spcPts val="3024"/>
              </a:lnSpc>
            </a:pPr>
            <a:r>
              <a:rPr lang="en-US" sz="2800">
                <a:solidFill>
                  <a:srgbClr val="B11510"/>
                </a:solidFill>
                <a:latin typeface="Calibri (MS)"/>
                <a:ea typeface="Calibri (MS)"/>
                <a:cs typeface="Calibri (MS)"/>
                <a:sym typeface="Calibri (MS)"/>
              </a:rPr>
              <a:t>V.RITWIK 2520080051</a:t>
            </a:r>
          </a:p>
          <a:p>
            <a:pPr algn="ctr">
              <a:lnSpc>
                <a:spcPts val="3024"/>
              </a:lnSpc>
            </a:pPr>
          </a:p>
          <a:p>
            <a:pPr algn="ctr">
              <a:lnSpc>
                <a:spcPts val="3024"/>
              </a:lnSpc>
            </a:pPr>
            <a:r>
              <a:rPr lang="en-US" sz="2800">
                <a:solidFill>
                  <a:srgbClr val="B11510"/>
                </a:solidFill>
                <a:latin typeface="Calibri (MS)"/>
                <a:ea typeface="Calibri (MS)"/>
                <a:cs typeface="Calibri (MS)"/>
                <a:sym typeface="Calibri (MS)"/>
              </a:rPr>
              <a:t>G.NANDA KISHORE 2520080050</a:t>
            </a:r>
          </a:p>
          <a:p>
            <a:pPr algn="ctr">
              <a:lnSpc>
                <a:spcPts val="3888"/>
              </a:lnSpc>
            </a:pPr>
          </a:p>
          <a:p>
            <a:pPr algn="ctr">
              <a:lnSpc>
                <a:spcPts val="3466"/>
              </a:lnSpc>
            </a:pPr>
          </a:p>
          <a:p>
            <a:pPr algn="ctr">
              <a:lnSpc>
                <a:spcPts val="3466"/>
              </a:lnSpc>
            </a:pPr>
            <a:r>
              <a:rPr lang="en-US" sz="2700">
                <a:solidFill>
                  <a:srgbClr val="000000"/>
                </a:solidFill>
                <a:latin typeface="Times New Roman"/>
                <a:ea typeface="Times New Roman"/>
                <a:cs typeface="Times New Roman"/>
                <a:sym typeface="Times New Roman"/>
              </a:rPr>
              <a:t>Under the Esteemed Guidance of</a:t>
            </a:r>
          </a:p>
          <a:p>
            <a:pPr algn="ctr">
              <a:lnSpc>
                <a:spcPts val="3466"/>
              </a:lnSpc>
            </a:pPr>
            <a:r>
              <a:rPr lang="en-US" sz="2700">
                <a:solidFill>
                  <a:srgbClr val="000000"/>
                </a:solidFill>
                <a:latin typeface="Times New Roman"/>
                <a:ea typeface="Times New Roman"/>
                <a:cs typeface="Times New Roman"/>
                <a:sym typeface="Times New Roman"/>
              </a:rPr>
              <a:t>Mrs. Ch. Anitha </a:t>
            </a:r>
          </a:p>
          <a:p>
            <a:pPr algn="ctr">
              <a:lnSpc>
                <a:spcPts val="3466"/>
              </a:lnSpc>
            </a:pPr>
            <a:r>
              <a:rPr lang="en-US" sz="2700">
                <a:solidFill>
                  <a:srgbClr val="000000"/>
                </a:solidFill>
                <a:latin typeface="Times New Roman"/>
                <a:ea typeface="Times New Roman"/>
                <a:cs typeface="Times New Roman"/>
                <a:sym typeface="Times New Roman"/>
              </a:rPr>
              <a:t>Asst. Professor, CS&amp;IT </a:t>
            </a:r>
            <a:r>
              <a:rPr lang="en-US" sz="2700" b="true">
                <a:solidFill>
                  <a:srgbClr val="000000"/>
                </a:solidFill>
                <a:latin typeface="Times New Roman Bold"/>
                <a:ea typeface="Times New Roman Bold"/>
                <a:cs typeface="Times New Roman Bold"/>
                <a:sym typeface="Times New Roman Bold"/>
              </a:rPr>
              <a:t> </a:t>
            </a:r>
          </a:p>
          <a:p>
            <a:pPr algn="ctr">
              <a:lnSpc>
                <a:spcPts val="2916"/>
              </a:lnSpc>
            </a:pPr>
          </a:p>
          <a:p>
            <a:pPr algn="ctr">
              <a:lnSpc>
                <a:spcPts val="2916"/>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sp>
        <p:nvSpPr>
          <p:cNvPr name="TextBox 8" id="8"/>
          <p:cNvSpPr txBox="true"/>
          <p:nvPr/>
        </p:nvSpPr>
        <p:spPr>
          <a:xfrm rot="0">
            <a:off x="5695607" y="893445"/>
            <a:ext cx="10221697" cy="9023871"/>
          </a:xfrm>
          <a:prstGeom prst="rect">
            <a:avLst/>
          </a:prstGeom>
        </p:spPr>
        <p:txBody>
          <a:bodyPr anchor="t" rtlCol="false" tIns="0" lIns="0" bIns="0" rIns="0">
            <a:spAutoFit/>
          </a:bodyPr>
          <a:lstStyle/>
          <a:p>
            <a:pPr algn="l" marL="868680" indent="-434340" lvl="1">
              <a:lnSpc>
                <a:spcPts val="8640"/>
              </a:lnSpc>
              <a:buFont typeface="Arial"/>
              <a:buChar char="•"/>
            </a:pPr>
            <a:r>
              <a:rPr lang="en-US" sz="4800">
                <a:solidFill>
                  <a:srgbClr val="000000"/>
                </a:solidFill>
                <a:latin typeface="Calibri (MS)"/>
                <a:ea typeface="Calibri (MS)"/>
                <a:cs typeface="Calibri (MS)"/>
                <a:sym typeface="Calibri (MS)"/>
              </a:rPr>
              <a:t>Abstract</a:t>
            </a:r>
          </a:p>
          <a:p>
            <a:pPr algn="l" marL="868680" indent="-434340" lvl="1">
              <a:lnSpc>
                <a:spcPts val="8640"/>
              </a:lnSpc>
              <a:buFont typeface="Arial"/>
              <a:buChar char="•"/>
            </a:pPr>
            <a:r>
              <a:rPr lang="en-US" sz="4800">
                <a:solidFill>
                  <a:srgbClr val="000000"/>
                </a:solidFill>
                <a:latin typeface="Calibri (MS)"/>
                <a:ea typeface="Calibri (MS)"/>
                <a:cs typeface="Calibri (MS)"/>
                <a:sym typeface="Calibri (MS)"/>
              </a:rPr>
              <a:t>Introduction</a:t>
            </a:r>
          </a:p>
          <a:p>
            <a:pPr algn="l" marL="868680" indent="-434340" lvl="1">
              <a:lnSpc>
                <a:spcPts val="8640"/>
              </a:lnSpc>
              <a:buFont typeface="Arial"/>
              <a:buChar char="•"/>
            </a:pPr>
            <a:r>
              <a:rPr lang="en-US" sz="4800">
                <a:solidFill>
                  <a:srgbClr val="000000"/>
                </a:solidFill>
                <a:latin typeface="Calibri (MS)"/>
                <a:ea typeface="Calibri (MS)"/>
                <a:cs typeface="Calibri (MS)"/>
                <a:sym typeface="Calibri (MS)"/>
              </a:rPr>
              <a:t>Literature survey</a:t>
            </a:r>
          </a:p>
          <a:p>
            <a:pPr algn="l" marL="868680" indent="-434340" lvl="1">
              <a:lnSpc>
                <a:spcPts val="6163"/>
              </a:lnSpc>
              <a:buFont typeface="Arial"/>
              <a:buChar char="•"/>
            </a:pPr>
            <a:r>
              <a:rPr lang="en-US" sz="4800">
                <a:solidFill>
                  <a:srgbClr val="000000"/>
                </a:solidFill>
                <a:latin typeface="Calibri (MS)"/>
                <a:ea typeface="Calibri (MS)"/>
                <a:cs typeface="Calibri (MS)"/>
                <a:sym typeface="Calibri (MS)"/>
              </a:rPr>
              <a:t>Problem Statement and Objectives</a:t>
            </a:r>
          </a:p>
          <a:p>
            <a:pPr algn="l" marL="868680" indent="-434340" lvl="1">
              <a:lnSpc>
                <a:spcPts val="6163"/>
              </a:lnSpc>
              <a:buFont typeface="Arial"/>
              <a:buChar char="•"/>
            </a:pPr>
            <a:r>
              <a:rPr lang="en-US" sz="4800">
                <a:solidFill>
                  <a:srgbClr val="000000"/>
                </a:solidFill>
                <a:latin typeface="Calibri (MS)"/>
                <a:ea typeface="Calibri (MS)"/>
                <a:cs typeface="Calibri (MS)"/>
                <a:sym typeface="Calibri (MS)"/>
              </a:rPr>
              <a:t>Hardware and Software requirements</a:t>
            </a:r>
          </a:p>
          <a:p>
            <a:pPr algn="l" marL="868680" indent="-434340" lvl="1">
              <a:lnSpc>
                <a:spcPts val="6163"/>
              </a:lnSpc>
              <a:buFont typeface="Arial"/>
              <a:buChar char="•"/>
            </a:pPr>
            <a:r>
              <a:rPr lang="en-US" sz="4800">
                <a:solidFill>
                  <a:srgbClr val="000000"/>
                </a:solidFill>
                <a:latin typeface="Calibri (MS)"/>
                <a:ea typeface="Calibri (MS)"/>
                <a:cs typeface="Calibri (MS)"/>
                <a:sym typeface="Calibri (MS)"/>
              </a:rPr>
              <a:t>Results</a:t>
            </a:r>
          </a:p>
          <a:p>
            <a:pPr algn="l" marL="868680" indent="-434340" lvl="1">
              <a:lnSpc>
                <a:spcPts val="6163"/>
              </a:lnSpc>
              <a:buFont typeface="Arial"/>
              <a:buChar char="•"/>
            </a:pPr>
            <a:r>
              <a:rPr lang="en-US" sz="4800">
                <a:solidFill>
                  <a:srgbClr val="000000"/>
                </a:solidFill>
                <a:latin typeface="Calibri (MS)"/>
                <a:ea typeface="Calibri (MS)"/>
                <a:cs typeface="Calibri (MS)"/>
                <a:sym typeface="Calibri (MS)"/>
              </a:rPr>
              <a:t>Conclusion </a:t>
            </a:r>
          </a:p>
          <a:p>
            <a:pPr algn="l" marL="868680" indent="-434340" lvl="1">
              <a:lnSpc>
                <a:spcPts val="6163"/>
              </a:lnSpc>
              <a:buFont typeface="Arial"/>
              <a:buChar char="•"/>
            </a:pPr>
            <a:r>
              <a:rPr lang="en-US" sz="4800">
                <a:solidFill>
                  <a:srgbClr val="000000"/>
                </a:solidFill>
                <a:latin typeface="Calibri (MS)"/>
                <a:ea typeface="Calibri (MS)"/>
                <a:cs typeface="Calibri (MS)"/>
                <a:sym typeface="Calibri (MS)"/>
              </a:rPr>
              <a:t>Future Scope </a:t>
            </a:r>
          </a:p>
          <a:p>
            <a:pPr algn="l" marL="868680" indent="-434340" lvl="1">
              <a:lnSpc>
                <a:spcPts val="5759"/>
              </a:lnSpc>
            </a:pPr>
          </a:p>
        </p:txBody>
      </p:sp>
      <p:grpSp>
        <p:nvGrpSpPr>
          <p:cNvPr name="Group 9" id="9"/>
          <p:cNvGrpSpPr/>
          <p:nvPr/>
        </p:nvGrpSpPr>
        <p:grpSpPr>
          <a:xfrm rot="0">
            <a:off x="5594642" y="322983"/>
            <a:ext cx="7098725" cy="794899"/>
            <a:chOff x="0" y="0"/>
            <a:chExt cx="9464967" cy="1059866"/>
          </a:xfrm>
        </p:grpSpPr>
        <p:sp>
          <p:nvSpPr>
            <p:cNvPr name="Freeform 10" id="10"/>
            <p:cNvSpPr/>
            <p:nvPr/>
          </p:nvSpPr>
          <p:spPr>
            <a:xfrm flipH="false" flipV="false" rot="0">
              <a:off x="0" y="0"/>
              <a:ext cx="9464928" cy="1059942"/>
            </a:xfrm>
            <a:custGeom>
              <a:avLst/>
              <a:gdLst/>
              <a:ahLst/>
              <a:cxnLst/>
              <a:rect r="r" b="b" t="t" l="l"/>
              <a:pathLst>
                <a:path h="1059942" w="9464928">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name="TextBox 11" id="11"/>
          <p:cNvSpPr txBox="true"/>
          <p:nvPr/>
        </p:nvSpPr>
        <p:spPr>
          <a:xfrm rot="0">
            <a:off x="4081548" y="292503"/>
            <a:ext cx="10124904" cy="871452"/>
          </a:xfrm>
          <a:prstGeom prst="rect">
            <a:avLst/>
          </a:prstGeom>
        </p:spPr>
        <p:txBody>
          <a:bodyPr anchor="t" rtlCol="false" tIns="0" lIns="0" bIns="0" rIns="0">
            <a:spAutoFit/>
          </a:bodyPr>
          <a:lstStyle/>
          <a:p>
            <a:pPr algn="ctr">
              <a:lnSpc>
                <a:spcPts val="5759"/>
              </a:lnSpc>
            </a:pPr>
            <a:r>
              <a:rPr lang="en-US" sz="4800" b="true">
                <a:solidFill>
                  <a:srgbClr val="FFFFFF"/>
                </a:solidFill>
                <a:latin typeface="Calibri (MS) Bold"/>
                <a:ea typeface="Calibri (MS) Bold"/>
                <a:cs typeface="Calibri (MS) Bold"/>
                <a:sym typeface="Calibri (MS) Bold"/>
              </a:rPr>
              <a:t>Contents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594642" y="322983"/>
            <a:ext cx="7098725" cy="794899"/>
            <a:chOff x="0" y="0"/>
            <a:chExt cx="9464967" cy="1059866"/>
          </a:xfrm>
        </p:grpSpPr>
        <p:sp>
          <p:nvSpPr>
            <p:cNvPr name="Freeform 9" id="9"/>
            <p:cNvSpPr/>
            <p:nvPr/>
          </p:nvSpPr>
          <p:spPr>
            <a:xfrm flipH="false" flipV="false" rot="0">
              <a:off x="0" y="0"/>
              <a:ext cx="9464928" cy="1059942"/>
            </a:xfrm>
            <a:custGeom>
              <a:avLst/>
              <a:gdLst/>
              <a:ahLst/>
              <a:cxnLst/>
              <a:rect r="r" b="b" t="t" l="l"/>
              <a:pathLst>
                <a:path h="1059942" w="9464928">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name="TextBox 10" id="10"/>
          <p:cNvSpPr txBox="true"/>
          <p:nvPr/>
        </p:nvSpPr>
        <p:spPr>
          <a:xfrm rot="0">
            <a:off x="4081548" y="292503"/>
            <a:ext cx="10124904" cy="871452"/>
          </a:xfrm>
          <a:prstGeom prst="rect">
            <a:avLst/>
          </a:prstGeom>
        </p:spPr>
        <p:txBody>
          <a:bodyPr anchor="t" rtlCol="false" tIns="0" lIns="0" bIns="0" rIns="0">
            <a:spAutoFit/>
          </a:bodyPr>
          <a:lstStyle/>
          <a:p>
            <a:pPr algn="ctr">
              <a:lnSpc>
                <a:spcPts val="5759"/>
              </a:lnSpc>
            </a:pPr>
            <a:r>
              <a:rPr lang="en-US" sz="4800" b="true">
                <a:solidFill>
                  <a:srgbClr val="FFFFFF"/>
                </a:solidFill>
                <a:latin typeface="Calibri (MS) Bold"/>
                <a:ea typeface="Calibri (MS) Bold"/>
                <a:cs typeface="Calibri (MS) Bold"/>
                <a:sym typeface="Calibri (MS) Bold"/>
              </a:rPr>
              <a:t>Abstract</a:t>
            </a:r>
          </a:p>
        </p:txBody>
      </p:sp>
      <p:sp>
        <p:nvSpPr>
          <p:cNvPr name="TextBox 11" id="11"/>
          <p:cNvSpPr txBox="true"/>
          <p:nvPr/>
        </p:nvSpPr>
        <p:spPr>
          <a:xfrm rot="0">
            <a:off x="4546407" y="1449705"/>
            <a:ext cx="13131839" cy="9262600"/>
          </a:xfrm>
          <a:prstGeom prst="rect">
            <a:avLst/>
          </a:prstGeom>
        </p:spPr>
        <p:txBody>
          <a:bodyPr anchor="t" rtlCol="false" tIns="0" lIns="0" bIns="0" rIns="0">
            <a:spAutoFit/>
          </a:bodyPr>
          <a:lstStyle/>
          <a:p>
            <a:pPr algn="just">
              <a:lnSpc>
                <a:spcPts val="2769"/>
              </a:lnSpc>
              <a:spcBef>
                <a:spcPct val="0"/>
              </a:spcBef>
            </a:pPr>
            <a:r>
              <a:rPr lang="en-US" sz="2564">
                <a:solidFill>
                  <a:srgbClr val="000000"/>
                </a:solidFill>
                <a:latin typeface="Calibri (MS)"/>
                <a:ea typeface="Calibri (MS)"/>
                <a:cs typeface="Calibri (MS)"/>
                <a:sym typeface="Calibri (MS)"/>
              </a:rPr>
              <a:t>Online shopping platforms often contain multiple listings of the same product from different sellers. These listings may have different product names, descriptions, prices, or formatting, making it difficult for customers to identify the same product and compare prices. The E-Commerce Product Entity-Resolution &amp; Matching Platform is designed to solve this problem by automatically detecting similar product listings and grouping them into a single product. This helps users easily compare prices offered by different sellers and make better purchasing decisions while reducing duplicate product records.</a:t>
            </a:r>
          </a:p>
          <a:p>
            <a:pPr algn="just">
              <a:lnSpc>
                <a:spcPts val="2769"/>
              </a:lnSpc>
              <a:spcBef>
                <a:spcPct val="0"/>
              </a:spcBef>
            </a:pPr>
          </a:p>
          <a:p>
            <a:pPr algn="just">
              <a:lnSpc>
                <a:spcPts val="2769"/>
              </a:lnSpc>
              <a:spcBef>
                <a:spcPct val="0"/>
              </a:spcBef>
            </a:pPr>
            <a:r>
              <a:rPr lang="en-US" sz="2564">
                <a:solidFill>
                  <a:srgbClr val="000000"/>
                </a:solidFill>
                <a:latin typeface="Calibri (MS)"/>
                <a:ea typeface="Calibri (MS)"/>
                <a:cs typeface="Calibri (MS)"/>
                <a:sym typeface="Calibri (MS)"/>
              </a:rPr>
              <a:t>The proposed system is developed using the MERN Stack, which includes MongoDB, Express.js, React.js, and Node.js. It uses several Data Structures and Algorithms to perform efficient product matching. Product titles are first cleaned and tokenized, after which an Inverted Index is created to reduce unnecessary comparisons. The similarity between product titles is calculated using Jaccard Similarity, while Levenshtein Distance is used to identify minor spelling differences or typing errors. A weighted similarity score is then used to determine whether two products represent the same item, and the Union-Find (Disjoint Set Union) algorithm groups matching products into a single cluster.</a:t>
            </a:r>
          </a:p>
          <a:p>
            <a:pPr algn="just">
              <a:lnSpc>
                <a:spcPts val="2769"/>
              </a:lnSpc>
              <a:spcBef>
                <a:spcPct val="0"/>
              </a:spcBef>
            </a:pPr>
          </a:p>
          <a:p>
            <a:pPr algn="just">
              <a:lnSpc>
                <a:spcPts val="2769"/>
              </a:lnSpc>
              <a:spcBef>
                <a:spcPct val="0"/>
              </a:spcBef>
            </a:pPr>
            <a:r>
              <a:rPr lang="en-US" sz="2564">
                <a:solidFill>
                  <a:srgbClr val="000000"/>
                </a:solidFill>
                <a:latin typeface="Calibri (MS)"/>
                <a:ea typeface="Calibri (MS)"/>
                <a:cs typeface="Calibri (MS)"/>
                <a:sym typeface="Calibri (MS)"/>
              </a:rPr>
              <a:t>The platform provides features such as product upload, product matching, duplicate detection, price comparison, and grouped product display. By combining modern web technologies with efficient algorithms, the system offers a practical solution for e-commerce applications while demonstrating the real-world use of data structures and algorithms. The project is scalable, user-friendly, and can be enhanced in the future with advanced AI-based product matching, recommendation systems, and real-time data integration from multiple online marketplaces.</a:t>
            </a:r>
          </a:p>
          <a:p>
            <a:pPr algn="just">
              <a:lnSpc>
                <a:spcPts val="9983"/>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594642" y="322983"/>
            <a:ext cx="7098725" cy="794899"/>
            <a:chOff x="0" y="0"/>
            <a:chExt cx="9464967" cy="1059866"/>
          </a:xfrm>
        </p:grpSpPr>
        <p:sp>
          <p:nvSpPr>
            <p:cNvPr name="Freeform 9" id="9"/>
            <p:cNvSpPr/>
            <p:nvPr/>
          </p:nvSpPr>
          <p:spPr>
            <a:xfrm flipH="false" flipV="false" rot="0">
              <a:off x="0" y="0"/>
              <a:ext cx="9464928" cy="1059942"/>
            </a:xfrm>
            <a:custGeom>
              <a:avLst/>
              <a:gdLst/>
              <a:ahLst/>
              <a:cxnLst/>
              <a:rect r="r" b="b" t="t" l="l"/>
              <a:pathLst>
                <a:path h="1059942" w="9464928">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name="TextBox 10" id="10"/>
          <p:cNvSpPr txBox="true"/>
          <p:nvPr/>
        </p:nvSpPr>
        <p:spPr>
          <a:xfrm rot="0">
            <a:off x="4081548" y="250946"/>
            <a:ext cx="10124904" cy="871452"/>
          </a:xfrm>
          <a:prstGeom prst="rect">
            <a:avLst/>
          </a:prstGeom>
        </p:spPr>
        <p:txBody>
          <a:bodyPr anchor="t" rtlCol="false" tIns="0" lIns="0" bIns="0" rIns="0">
            <a:spAutoFit/>
          </a:bodyPr>
          <a:lstStyle/>
          <a:p>
            <a:pPr algn="ctr">
              <a:lnSpc>
                <a:spcPts val="5759"/>
              </a:lnSpc>
            </a:pPr>
            <a:r>
              <a:rPr lang="en-US" sz="4800" b="true">
                <a:solidFill>
                  <a:srgbClr val="FFFFFF"/>
                </a:solidFill>
                <a:latin typeface="Calibri (MS) Bold"/>
                <a:ea typeface="Calibri (MS) Bold"/>
                <a:cs typeface="Calibri (MS) Bold"/>
                <a:sym typeface="Calibri (MS) Bold"/>
              </a:rPr>
              <a:t>Introduction</a:t>
            </a:r>
          </a:p>
        </p:txBody>
      </p:sp>
      <p:sp>
        <p:nvSpPr>
          <p:cNvPr name="TextBox 11" id="11"/>
          <p:cNvSpPr txBox="true"/>
          <p:nvPr/>
        </p:nvSpPr>
        <p:spPr>
          <a:xfrm rot="0">
            <a:off x="4299366" y="1606468"/>
            <a:ext cx="12684562" cy="7381876"/>
          </a:xfrm>
          <a:prstGeom prst="rect">
            <a:avLst/>
          </a:prstGeom>
        </p:spPr>
        <p:txBody>
          <a:bodyPr anchor="t" rtlCol="false" tIns="0" lIns="0" bIns="0" rIns="0">
            <a:spAutoFit/>
          </a:bodyPr>
          <a:lstStyle/>
          <a:p>
            <a:pPr algn="ctr">
              <a:lnSpc>
                <a:spcPts val="3633"/>
              </a:lnSpc>
            </a:pPr>
          </a:p>
          <a:p>
            <a:pPr algn="l">
              <a:lnSpc>
                <a:spcPts val="3633"/>
              </a:lnSpc>
            </a:pPr>
            <a:r>
              <a:rPr lang="en-US" sz="3027">
                <a:solidFill>
                  <a:srgbClr val="000000"/>
                </a:solidFill>
                <a:latin typeface="Calibri (MS)"/>
                <a:ea typeface="Calibri (MS)"/>
                <a:cs typeface="Calibri (MS)"/>
                <a:sym typeface="Calibri (MS)"/>
              </a:rPr>
              <a:t>The E-Commerce Product Entity-Resolution and Matching Platform is a system designed to identify and match similar products listed across different online stores. E-commerce websites often use different product names, descriptions, brands, and formats for the same product, making it difficult to compare them accurately. This project solves this problem by using Data Structures and Algorithms to detect products that represent the same real-world item.</a:t>
            </a:r>
          </a:p>
          <a:p>
            <a:pPr algn="l">
              <a:lnSpc>
                <a:spcPts val="3633"/>
              </a:lnSpc>
            </a:pPr>
            <a:r>
              <a:rPr lang="en-US" sz="3027">
                <a:solidFill>
                  <a:srgbClr val="000000"/>
                </a:solidFill>
                <a:latin typeface="Calibri (MS)"/>
                <a:ea typeface="Calibri (MS)"/>
                <a:cs typeface="Calibri (MS)"/>
                <a:sym typeface="Calibri (MS)"/>
              </a:rPr>
              <a:t>The system processes product information using techniques such as tokenization, inverted indexing, Jaccard similarity, and Levenshtein distance to measure the similarity between product listings. A weighted matching score is then calculated to determine whether two products are likely to be the same. Union-Find is used to group matching products into clusters, while a canonical product is selected to represent each group. The platform can also help users compare prices across different sellers, making product searching faster, more accurate, and more convenient.</a:t>
            </a:r>
          </a:p>
          <a:p>
            <a:pPr algn="ctr">
              <a:lnSpc>
                <a:spcPts val="3633"/>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594642" y="322983"/>
            <a:ext cx="7098725" cy="794899"/>
            <a:chOff x="0" y="0"/>
            <a:chExt cx="9464967" cy="1059866"/>
          </a:xfrm>
        </p:grpSpPr>
        <p:sp>
          <p:nvSpPr>
            <p:cNvPr name="Freeform 9" id="9"/>
            <p:cNvSpPr/>
            <p:nvPr/>
          </p:nvSpPr>
          <p:spPr>
            <a:xfrm flipH="false" flipV="false" rot="0">
              <a:off x="0" y="0"/>
              <a:ext cx="9464928" cy="1059942"/>
            </a:xfrm>
            <a:custGeom>
              <a:avLst/>
              <a:gdLst/>
              <a:ahLst/>
              <a:cxnLst/>
              <a:rect r="r" b="b" t="t" l="l"/>
              <a:pathLst>
                <a:path h="1059942" w="9464928">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name="TextBox 10" id="10"/>
          <p:cNvSpPr txBox="true"/>
          <p:nvPr/>
        </p:nvSpPr>
        <p:spPr>
          <a:xfrm rot="0">
            <a:off x="4081548" y="250946"/>
            <a:ext cx="10124904" cy="871452"/>
          </a:xfrm>
          <a:prstGeom prst="rect">
            <a:avLst/>
          </a:prstGeom>
        </p:spPr>
        <p:txBody>
          <a:bodyPr anchor="t" rtlCol="false" tIns="0" lIns="0" bIns="0" rIns="0">
            <a:spAutoFit/>
          </a:bodyPr>
          <a:lstStyle/>
          <a:p>
            <a:pPr algn="ctr">
              <a:lnSpc>
                <a:spcPts val="5759"/>
              </a:lnSpc>
            </a:pPr>
            <a:r>
              <a:rPr lang="en-US" sz="4800" b="true">
                <a:solidFill>
                  <a:srgbClr val="FFFFFF"/>
                </a:solidFill>
                <a:latin typeface="Calibri (MS) Bold"/>
                <a:ea typeface="Calibri (MS) Bold"/>
                <a:cs typeface="Calibri (MS) Bold"/>
                <a:sym typeface="Calibri (MS) Bold"/>
              </a:rPr>
              <a:t>Literature Survey</a:t>
            </a:r>
          </a:p>
        </p:txBody>
      </p:sp>
      <p:sp>
        <p:nvSpPr>
          <p:cNvPr name="TextBox 11" id="11"/>
          <p:cNvSpPr txBox="true"/>
          <p:nvPr/>
        </p:nvSpPr>
        <p:spPr>
          <a:xfrm rot="0">
            <a:off x="2711532" y="1773349"/>
            <a:ext cx="12864936" cy="7085855"/>
          </a:xfrm>
          <a:prstGeom prst="rect">
            <a:avLst/>
          </a:prstGeom>
        </p:spPr>
        <p:txBody>
          <a:bodyPr anchor="t" rtlCol="false" tIns="0" lIns="0" bIns="0" rIns="0">
            <a:spAutoFit/>
          </a:bodyPr>
          <a:lstStyle/>
          <a:p>
            <a:pPr algn="ctr">
              <a:lnSpc>
                <a:spcPts val="3119"/>
              </a:lnSpc>
              <a:spcBef>
                <a:spcPct val="0"/>
              </a:spcBef>
            </a:pPr>
          </a:p>
          <a:p>
            <a:pPr algn="l" marL="561169" indent="-280584" lvl="1">
              <a:lnSpc>
                <a:spcPts val="3119"/>
              </a:lnSpc>
              <a:spcBef>
                <a:spcPct val="0"/>
              </a:spcBef>
              <a:buAutoNum type="arabicPeriod" startAt="1"/>
            </a:pPr>
            <a:r>
              <a:rPr lang="en-US" b="true" sz="2599">
                <a:solidFill>
                  <a:srgbClr val="000000"/>
                </a:solidFill>
                <a:latin typeface="Calibri (MS) Bold"/>
                <a:ea typeface="Calibri (MS) Bold"/>
                <a:cs typeface="Calibri (MS) Bold"/>
                <a:sym typeface="Calibri (MS) Bold"/>
              </a:rPr>
              <a:t>Elmagarmid et al. (2007</a:t>
            </a:r>
            <a:r>
              <a:rPr lang="en-US" sz="2599">
                <a:solidFill>
                  <a:srgbClr val="000000"/>
                </a:solidFill>
                <a:latin typeface="Calibri (MS)"/>
                <a:ea typeface="Calibri (MS)"/>
                <a:cs typeface="Calibri (MS)"/>
                <a:sym typeface="Calibri (MS)"/>
              </a:rPr>
              <a:t>) studied duplicate record detection and entity resolution techniques. Their work explained how similar records can be identified and grouped even when their information is not exactly the same.</a:t>
            </a:r>
          </a:p>
          <a:p>
            <a:pPr algn="l" marL="561169" indent="-280584" lvl="1">
              <a:lnSpc>
                <a:spcPts val="3119"/>
              </a:lnSpc>
              <a:spcBef>
                <a:spcPct val="0"/>
              </a:spcBef>
              <a:buAutoNum type="arabicPeriod" startAt="1"/>
            </a:pPr>
            <a:r>
              <a:rPr lang="en-US" b="true" sz="2599">
                <a:solidFill>
                  <a:srgbClr val="000000"/>
                </a:solidFill>
                <a:latin typeface="Calibri (MS) Bold"/>
                <a:ea typeface="Calibri (MS) Bold"/>
                <a:cs typeface="Calibri (MS) Bold"/>
                <a:sym typeface="Calibri (MS) Bold"/>
              </a:rPr>
              <a:t>Christen (2012)</a:t>
            </a:r>
            <a:r>
              <a:rPr lang="en-US" sz="2599">
                <a:solidFill>
                  <a:srgbClr val="000000"/>
                </a:solidFill>
                <a:latin typeface="Calibri (MS)"/>
                <a:ea typeface="Calibri (MS)"/>
                <a:cs typeface="Calibri (MS)"/>
                <a:sym typeface="Calibri (MS)"/>
              </a:rPr>
              <a:t> presented different data-matching and entity-resolution techniques, focusing on blocking and similarity-based approaches. These methods help reduce the number of unnecessary comparisons when working with large datasets.</a:t>
            </a:r>
          </a:p>
          <a:p>
            <a:pPr algn="l" marL="561169" indent="-280584" lvl="1">
              <a:lnSpc>
                <a:spcPts val="3119"/>
              </a:lnSpc>
              <a:spcBef>
                <a:spcPct val="0"/>
              </a:spcBef>
              <a:buAutoNum type="arabicPeriod" startAt="1"/>
            </a:pPr>
            <a:r>
              <a:rPr lang="en-US" b="true" sz="2599">
                <a:solidFill>
                  <a:srgbClr val="000000"/>
                </a:solidFill>
                <a:latin typeface="Calibri (MS) Bold"/>
                <a:ea typeface="Calibri (MS) Bold"/>
                <a:cs typeface="Calibri (MS) Bold"/>
                <a:sym typeface="Calibri (MS) Bold"/>
              </a:rPr>
              <a:t>Cohen et al. (2003)</a:t>
            </a:r>
            <a:r>
              <a:rPr lang="en-US" sz="2599">
                <a:solidFill>
                  <a:srgbClr val="000000"/>
                </a:solidFill>
                <a:latin typeface="Calibri (MS)"/>
                <a:ea typeface="Calibri (MS)"/>
                <a:cs typeface="Calibri (MS)"/>
                <a:sym typeface="Calibri (MS)"/>
              </a:rPr>
              <a:t> explored string similarity techniques for matching product and textual data. Measures such as Jaccard similarity are useful for comparing product names and descriptions based on their common tokens.</a:t>
            </a:r>
          </a:p>
          <a:p>
            <a:pPr algn="l" marL="561169" indent="-280584" lvl="1">
              <a:lnSpc>
                <a:spcPts val="3119"/>
              </a:lnSpc>
              <a:spcBef>
                <a:spcPct val="0"/>
              </a:spcBef>
              <a:buAutoNum type="arabicPeriod" startAt="1"/>
            </a:pPr>
            <a:r>
              <a:rPr lang="en-US" b="true" sz="2599">
                <a:solidFill>
                  <a:srgbClr val="000000"/>
                </a:solidFill>
                <a:latin typeface="Calibri (MS) Bold"/>
                <a:ea typeface="Calibri (MS) Bold"/>
                <a:cs typeface="Calibri (MS) Bold"/>
                <a:sym typeface="Calibri (MS) Bold"/>
              </a:rPr>
              <a:t>Levenshtein (1966) </a:t>
            </a:r>
            <a:r>
              <a:rPr lang="en-US" sz="2599">
                <a:solidFill>
                  <a:srgbClr val="000000"/>
                </a:solidFill>
                <a:latin typeface="Calibri (MS)"/>
                <a:ea typeface="Calibri (MS)"/>
                <a:cs typeface="Calibri (MS)"/>
                <a:sym typeface="Calibri (MS)"/>
              </a:rPr>
              <a:t>introduced an edit-distance approach for measuring the difference between two strings. It is useful for detecting spelling variations and small differences in product names.</a:t>
            </a:r>
          </a:p>
          <a:p>
            <a:pPr algn="l" marL="561169" indent="-280584" lvl="1">
              <a:lnSpc>
                <a:spcPts val="3119"/>
              </a:lnSpc>
              <a:spcBef>
                <a:spcPct val="0"/>
              </a:spcBef>
              <a:buAutoNum type="arabicPeriod" startAt="1"/>
            </a:pPr>
            <a:r>
              <a:rPr lang="en-US" sz="2599">
                <a:solidFill>
                  <a:srgbClr val="000000"/>
                </a:solidFill>
                <a:latin typeface="Calibri (MS)"/>
                <a:ea typeface="Calibri (MS)"/>
                <a:cs typeface="Calibri (MS)"/>
                <a:sym typeface="Calibri (MS)"/>
              </a:rPr>
              <a:t>Existing e-commerce comparison systems mainly focus on searching and displaying products, while our proposed platform combines tokenization, inverted indexing, Jaccard similarity, Levenshtein distance, weighted matching, and Union-Find clustering to perform efficient product entity resolution.</a:t>
            </a:r>
          </a:p>
          <a:p>
            <a:pPr algn="l">
              <a:lnSpc>
                <a:spcPts val="311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200091" y="414099"/>
            <a:ext cx="10104491" cy="1002744"/>
            <a:chOff x="0" y="0"/>
            <a:chExt cx="13472655" cy="1336992"/>
          </a:xfrm>
        </p:grpSpPr>
        <p:sp>
          <p:nvSpPr>
            <p:cNvPr name="Freeform 9" id="9"/>
            <p:cNvSpPr/>
            <p:nvPr/>
          </p:nvSpPr>
          <p:spPr>
            <a:xfrm flipH="false" flipV="false" rot="0">
              <a:off x="0" y="0"/>
              <a:ext cx="13472669" cy="1337056"/>
            </a:xfrm>
            <a:custGeom>
              <a:avLst/>
              <a:gdLst/>
              <a:ahLst/>
              <a:cxnLst/>
              <a:rect r="r" b="b" t="t" l="l"/>
              <a:pathLst>
                <a:path h="1337056" w="13472669">
                  <a:moveTo>
                    <a:pt x="0" y="222885"/>
                  </a:moveTo>
                  <a:cubicBezTo>
                    <a:pt x="0" y="99822"/>
                    <a:pt x="99822" y="0"/>
                    <a:pt x="222885" y="0"/>
                  </a:cubicBezTo>
                  <a:lnTo>
                    <a:pt x="13249783" y="0"/>
                  </a:lnTo>
                  <a:cubicBezTo>
                    <a:pt x="13372846" y="0"/>
                    <a:pt x="13472669" y="99822"/>
                    <a:pt x="13472669" y="222885"/>
                  </a:cubicBezTo>
                  <a:lnTo>
                    <a:pt x="13472669" y="1114171"/>
                  </a:lnTo>
                  <a:cubicBezTo>
                    <a:pt x="13472669" y="1237234"/>
                    <a:pt x="13372846" y="1337056"/>
                    <a:pt x="13249783" y="1337056"/>
                  </a:cubicBezTo>
                  <a:lnTo>
                    <a:pt x="222885" y="1337056"/>
                  </a:lnTo>
                  <a:cubicBezTo>
                    <a:pt x="99822" y="1336929"/>
                    <a:pt x="0" y="1237234"/>
                    <a:pt x="0" y="1114171"/>
                  </a:cubicBezTo>
                  <a:close/>
                </a:path>
              </a:pathLst>
            </a:custGeom>
            <a:solidFill>
              <a:srgbClr val="C00000"/>
            </a:solidFill>
            <a:ln w="19050" cap="sq">
              <a:solidFill>
                <a:srgbClr val="172C51"/>
              </a:solidFill>
              <a:prstDash val="solid"/>
              <a:miter/>
            </a:ln>
          </p:spPr>
        </p:sp>
      </p:grpSp>
      <p:sp>
        <p:nvSpPr>
          <p:cNvPr name="TextBox 10" id="10"/>
          <p:cNvSpPr txBox="true"/>
          <p:nvPr/>
        </p:nvSpPr>
        <p:spPr>
          <a:xfrm rot="0">
            <a:off x="5006014" y="454276"/>
            <a:ext cx="10124904" cy="871452"/>
          </a:xfrm>
          <a:prstGeom prst="rect">
            <a:avLst/>
          </a:prstGeom>
        </p:spPr>
        <p:txBody>
          <a:bodyPr anchor="t" rtlCol="false" tIns="0" lIns="0" bIns="0" rIns="0">
            <a:spAutoFit/>
          </a:bodyPr>
          <a:lstStyle/>
          <a:p>
            <a:pPr algn="ctr">
              <a:lnSpc>
                <a:spcPts val="5759"/>
              </a:lnSpc>
            </a:pPr>
            <a:r>
              <a:rPr lang="en-US" sz="4800" b="true">
                <a:solidFill>
                  <a:srgbClr val="FFFFFF"/>
                </a:solidFill>
                <a:latin typeface="Calibri (MS) Bold"/>
                <a:ea typeface="Calibri (MS) Bold"/>
                <a:cs typeface="Calibri (MS) Bold"/>
                <a:sym typeface="Calibri (MS) Bold"/>
              </a:rPr>
              <a:t>Problem Statement and Objectives</a:t>
            </a:r>
          </a:p>
        </p:txBody>
      </p:sp>
      <p:sp>
        <p:nvSpPr>
          <p:cNvPr name="TextBox 11" id="11"/>
          <p:cNvSpPr txBox="true"/>
          <p:nvPr/>
        </p:nvSpPr>
        <p:spPr>
          <a:xfrm rot="0">
            <a:off x="5111076" y="1567118"/>
            <a:ext cx="10282521" cy="4105275"/>
          </a:xfrm>
          <a:prstGeom prst="rect">
            <a:avLst/>
          </a:prstGeom>
        </p:spPr>
        <p:txBody>
          <a:bodyPr anchor="t" rtlCol="false" tIns="0" lIns="0" bIns="0" rIns="0">
            <a:spAutoFit/>
          </a:bodyPr>
          <a:lstStyle/>
          <a:p>
            <a:pPr algn="ctr">
              <a:lnSpc>
                <a:spcPts val="2999"/>
              </a:lnSpc>
              <a:spcBef>
                <a:spcPct val="0"/>
              </a:spcBef>
            </a:pPr>
            <a:r>
              <a:rPr lang="en-US" b="true" sz="2499">
                <a:solidFill>
                  <a:srgbClr val="000000"/>
                </a:solidFill>
                <a:latin typeface="Calibri (MS) Bold"/>
                <a:ea typeface="Calibri (MS) Bold"/>
                <a:cs typeface="Calibri (MS) Bold"/>
                <a:sym typeface="Calibri (MS) Bold"/>
              </a:rPr>
              <a:t> Problem Statement</a:t>
            </a:r>
          </a:p>
          <a:p>
            <a:pPr algn="l">
              <a:lnSpc>
                <a:spcPts val="2999"/>
              </a:lnSpc>
              <a:spcBef>
                <a:spcPct val="0"/>
              </a:spcBef>
            </a:pPr>
            <a:r>
              <a:rPr lang="en-US" sz="2499">
                <a:solidFill>
                  <a:srgbClr val="000000"/>
                </a:solidFill>
                <a:latin typeface="Calibri (MS)"/>
                <a:ea typeface="Calibri (MS)"/>
                <a:cs typeface="Calibri (MS)"/>
                <a:sym typeface="Calibri (MS)"/>
              </a:rPr>
              <a:t>Online stores often list the same product using different names, descriptions, brands, and formats. Because of these variations, identifying whether two product listings represent the same real-world product becomes difficult. Traditional keyword-based searches may fail to recognize products with spelling differences, different word orders, abbreviations, or incomplete descriptions. This makes accurate product comparison and price analysis challenging. Therefore, there is a need for an efficient system that can identify, match, and group duplicate or similar product listings from different e-commerce sources using suitable Data Structures and Algorithms.</a:t>
            </a:r>
          </a:p>
          <a:p>
            <a:pPr algn="ctr">
              <a:lnSpc>
                <a:spcPts val="2760"/>
              </a:lnSpc>
              <a:spcBef>
                <a:spcPct val="0"/>
              </a:spcBef>
            </a:pPr>
          </a:p>
        </p:txBody>
      </p:sp>
      <p:sp>
        <p:nvSpPr>
          <p:cNvPr name="TextBox 12" id="12"/>
          <p:cNvSpPr txBox="true"/>
          <p:nvPr/>
        </p:nvSpPr>
        <p:spPr>
          <a:xfrm rot="0">
            <a:off x="4869425" y="5624768"/>
            <a:ext cx="10524173" cy="4133850"/>
          </a:xfrm>
          <a:prstGeom prst="rect">
            <a:avLst/>
          </a:prstGeom>
        </p:spPr>
        <p:txBody>
          <a:bodyPr anchor="t" rtlCol="false" tIns="0" lIns="0" bIns="0" rIns="0">
            <a:spAutoFit/>
          </a:bodyPr>
          <a:lstStyle/>
          <a:p>
            <a:pPr algn="ctr">
              <a:lnSpc>
                <a:spcPts val="2999"/>
              </a:lnSpc>
              <a:spcBef>
                <a:spcPct val="0"/>
              </a:spcBef>
            </a:pPr>
            <a:r>
              <a:rPr lang="en-US" b="true" sz="2499">
                <a:solidFill>
                  <a:srgbClr val="000000"/>
                </a:solidFill>
                <a:latin typeface="Calibri (MS) Bold"/>
                <a:ea typeface="Calibri (MS) Bold"/>
                <a:cs typeface="Calibri (MS) Bold"/>
                <a:sym typeface="Calibri (MS) Bold"/>
              </a:rPr>
              <a:t>Objectives</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To identify the same products listed under different names or descriptions.</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To preprocess and tokenize product information for efficient matching.</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To use Jaccard Similarity to compare common product terms.</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To use Levenshtein Distance to detect spelling and textual variations.</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To improve search efficiency using an Inverted Index and blocking techniques.</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To calculate a weighted matching score for more accurate product matching.</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To group matching products using the Union-Find data structure.</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To identify a canonical product for each group of matched listings.</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To enable efficient comparison of products and their prices across sellers.</a:t>
            </a:r>
          </a:p>
          <a:p>
            <a:pPr algn="l">
              <a:lnSpc>
                <a:spcPts val="29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594642" y="322983"/>
            <a:ext cx="7098725" cy="794899"/>
            <a:chOff x="0" y="0"/>
            <a:chExt cx="9464967" cy="1059866"/>
          </a:xfrm>
        </p:grpSpPr>
        <p:sp>
          <p:nvSpPr>
            <p:cNvPr name="Freeform 9" id="9"/>
            <p:cNvSpPr/>
            <p:nvPr/>
          </p:nvSpPr>
          <p:spPr>
            <a:xfrm flipH="false" flipV="false" rot="0">
              <a:off x="0" y="0"/>
              <a:ext cx="9464928" cy="1059942"/>
            </a:xfrm>
            <a:custGeom>
              <a:avLst/>
              <a:gdLst/>
              <a:ahLst/>
              <a:cxnLst/>
              <a:rect r="r" b="b" t="t" l="l"/>
              <a:pathLst>
                <a:path h="1059942" w="9464928">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name="Freeform 10" id="10"/>
          <p:cNvSpPr/>
          <p:nvPr/>
        </p:nvSpPr>
        <p:spPr>
          <a:xfrm flipH="false" flipV="false" rot="0">
            <a:off x="137686" y="1331116"/>
            <a:ext cx="17773655" cy="8886827"/>
          </a:xfrm>
          <a:custGeom>
            <a:avLst/>
            <a:gdLst/>
            <a:ahLst/>
            <a:cxnLst/>
            <a:rect r="r" b="b" t="t" l="l"/>
            <a:pathLst>
              <a:path h="8886827" w="17773655">
                <a:moveTo>
                  <a:pt x="0" y="0"/>
                </a:moveTo>
                <a:lnTo>
                  <a:pt x="17773655" y="0"/>
                </a:lnTo>
                <a:lnTo>
                  <a:pt x="17773655" y="8886828"/>
                </a:lnTo>
                <a:lnTo>
                  <a:pt x="0" y="88868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4081548" y="250946"/>
            <a:ext cx="10124904" cy="871452"/>
          </a:xfrm>
          <a:prstGeom prst="rect">
            <a:avLst/>
          </a:prstGeom>
        </p:spPr>
        <p:txBody>
          <a:bodyPr anchor="t" rtlCol="false" tIns="0" lIns="0" bIns="0" rIns="0">
            <a:spAutoFit/>
          </a:bodyPr>
          <a:lstStyle/>
          <a:p>
            <a:pPr algn="ctr">
              <a:lnSpc>
                <a:spcPts val="5759"/>
              </a:lnSpc>
            </a:pPr>
            <a:r>
              <a:rPr lang="en-US" sz="4800" b="true">
                <a:solidFill>
                  <a:srgbClr val="FFFFFF"/>
                </a:solidFill>
                <a:latin typeface="Calibri (MS) Bold"/>
                <a:ea typeface="Calibri (MS) Bold"/>
                <a:cs typeface="Calibri (MS) Bold"/>
                <a:sym typeface="Calibri (MS) Bold"/>
              </a:rPr>
              <a:t>Flow Chart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594642" y="322983"/>
            <a:ext cx="7098725" cy="794899"/>
            <a:chOff x="0" y="0"/>
            <a:chExt cx="9464967" cy="1059866"/>
          </a:xfrm>
        </p:grpSpPr>
        <p:sp>
          <p:nvSpPr>
            <p:cNvPr name="Freeform 9" id="9"/>
            <p:cNvSpPr/>
            <p:nvPr/>
          </p:nvSpPr>
          <p:spPr>
            <a:xfrm flipH="false" flipV="false" rot="0">
              <a:off x="0" y="0"/>
              <a:ext cx="9464928" cy="1059942"/>
            </a:xfrm>
            <a:custGeom>
              <a:avLst/>
              <a:gdLst/>
              <a:ahLst/>
              <a:cxnLst/>
              <a:rect r="r" b="b" t="t" l="l"/>
              <a:pathLst>
                <a:path h="1059942" w="9464928">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name="TextBox 10" id="10"/>
          <p:cNvSpPr txBox="true"/>
          <p:nvPr/>
        </p:nvSpPr>
        <p:spPr>
          <a:xfrm rot="0">
            <a:off x="4081548" y="250946"/>
            <a:ext cx="10124904" cy="871452"/>
          </a:xfrm>
          <a:prstGeom prst="rect">
            <a:avLst/>
          </a:prstGeom>
        </p:spPr>
        <p:txBody>
          <a:bodyPr anchor="t" rtlCol="false" tIns="0" lIns="0" bIns="0" rIns="0">
            <a:spAutoFit/>
          </a:bodyPr>
          <a:lstStyle/>
          <a:p>
            <a:pPr algn="ctr">
              <a:lnSpc>
                <a:spcPts val="5759"/>
              </a:lnSpc>
            </a:pPr>
            <a:r>
              <a:rPr lang="en-US" sz="4800" b="true">
                <a:solidFill>
                  <a:srgbClr val="FFFFFF"/>
                </a:solidFill>
                <a:latin typeface="Calibri (MS) Bold"/>
                <a:ea typeface="Calibri (MS) Bold"/>
                <a:cs typeface="Calibri (MS) Bold"/>
                <a:sym typeface="Calibri (MS) Bold"/>
              </a:rPr>
              <a:t>Results</a:t>
            </a:r>
          </a:p>
        </p:txBody>
      </p:sp>
      <p:sp>
        <p:nvSpPr>
          <p:cNvPr name="TextBox 11" id="11"/>
          <p:cNvSpPr txBox="true"/>
          <p:nvPr/>
        </p:nvSpPr>
        <p:spPr>
          <a:xfrm rot="0">
            <a:off x="3304473" y="1597795"/>
            <a:ext cx="12946644" cy="6838370"/>
          </a:xfrm>
          <a:prstGeom prst="rect">
            <a:avLst/>
          </a:prstGeom>
        </p:spPr>
        <p:txBody>
          <a:bodyPr anchor="t" rtlCol="false" tIns="0" lIns="0" bIns="0" rIns="0">
            <a:spAutoFit/>
          </a:bodyPr>
          <a:lstStyle/>
          <a:p>
            <a:pPr algn="l">
              <a:lnSpc>
                <a:spcPts val="3583"/>
              </a:lnSpc>
              <a:spcBef>
                <a:spcPct val="0"/>
              </a:spcBef>
            </a:pPr>
            <a:r>
              <a:rPr lang="en-US" sz="2986">
                <a:solidFill>
                  <a:srgbClr val="000000"/>
                </a:solidFill>
                <a:latin typeface="Calibri (MS)"/>
                <a:ea typeface="Calibri (MS)"/>
                <a:cs typeface="Calibri (MS)"/>
                <a:sym typeface="Calibri (MS)"/>
              </a:rPr>
              <a:t>The proposed E-Commerce Product Entity-Resolution and Matching Platform successfully identifies and groups product listings that belong to the same real-world product, even when their names or descriptions differ. The system preprocesses product data, compares listings using Jaccard Similarity and Levenshtein Distance, and generates a weighted matching score to improve matching accuracy.</a:t>
            </a:r>
          </a:p>
          <a:p>
            <a:pPr algn="l">
              <a:lnSpc>
                <a:spcPts val="3583"/>
              </a:lnSpc>
              <a:spcBef>
                <a:spcPct val="0"/>
              </a:spcBef>
            </a:pPr>
            <a:r>
              <a:rPr lang="en-US" sz="2986">
                <a:solidFill>
                  <a:srgbClr val="000000"/>
                </a:solidFill>
                <a:latin typeface="Calibri (MS)"/>
                <a:ea typeface="Calibri (MS)"/>
                <a:cs typeface="Calibri (MS)"/>
                <a:sym typeface="Calibri (MS)"/>
              </a:rPr>
              <a:t>The Inverted Index reduces unnecessary comparisons and improves the efficiency of the matching process. The Union-Find algorithm successfully groups matching product listings into clusters, while a canonical product represents each cluster. The system can therefore organize duplicate listings from different sellers and support effective product and price comparison.</a:t>
            </a:r>
          </a:p>
          <a:p>
            <a:pPr algn="l">
              <a:lnSpc>
                <a:spcPts val="3583"/>
              </a:lnSpc>
              <a:spcBef>
                <a:spcPct val="0"/>
              </a:spcBef>
            </a:pPr>
            <a:r>
              <a:rPr lang="en-US" sz="2986">
                <a:solidFill>
                  <a:srgbClr val="000000"/>
                </a:solidFill>
                <a:latin typeface="Calibri (MS)"/>
                <a:ea typeface="Calibri (MS)"/>
                <a:cs typeface="Calibri (MS)"/>
                <a:sym typeface="Calibri (MS)"/>
              </a:rPr>
              <a:t>Overall, the results demonstrate that combining multiple DSA techniques provides a more efficient and reliable approach to product matching than simple keyword-based searching.</a:t>
            </a:r>
          </a:p>
          <a:p>
            <a:pPr algn="ctr">
              <a:lnSpc>
                <a:spcPts val="4063"/>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472036" y="383534"/>
            <a:ext cx="9648968" cy="924973"/>
            <a:chOff x="0" y="0"/>
            <a:chExt cx="12865290" cy="1233297"/>
          </a:xfrm>
        </p:grpSpPr>
        <p:sp>
          <p:nvSpPr>
            <p:cNvPr name="Freeform 9" id="9"/>
            <p:cNvSpPr/>
            <p:nvPr/>
          </p:nvSpPr>
          <p:spPr>
            <a:xfrm flipH="false" flipV="false" rot="0">
              <a:off x="0" y="0"/>
              <a:ext cx="12865354" cy="1233297"/>
            </a:xfrm>
            <a:custGeom>
              <a:avLst/>
              <a:gdLst/>
              <a:ahLst/>
              <a:cxnLst/>
              <a:rect r="r" b="b" t="t" l="l"/>
              <a:pathLst>
                <a:path h="1233297" w="12865354">
                  <a:moveTo>
                    <a:pt x="0" y="205613"/>
                  </a:moveTo>
                  <a:cubicBezTo>
                    <a:pt x="0" y="92075"/>
                    <a:pt x="92075" y="0"/>
                    <a:pt x="205613" y="0"/>
                  </a:cubicBezTo>
                  <a:lnTo>
                    <a:pt x="12659741" y="0"/>
                  </a:lnTo>
                  <a:cubicBezTo>
                    <a:pt x="12773279" y="0"/>
                    <a:pt x="12865354" y="92075"/>
                    <a:pt x="12865354" y="205613"/>
                  </a:cubicBezTo>
                  <a:lnTo>
                    <a:pt x="12865354" y="1027684"/>
                  </a:lnTo>
                  <a:cubicBezTo>
                    <a:pt x="12865354" y="1141222"/>
                    <a:pt x="12773279" y="1233297"/>
                    <a:pt x="12659741" y="1233297"/>
                  </a:cubicBezTo>
                  <a:lnTo>
                    <a:pt x="205613" y="1233297"/>
                  </a:lnTo>
                  <a:cubicBezTo>
                    <a:pt x="92075" y="1233297"/>
                    <a:pt x="0" y="1141222"/>
                    <a:pt x="0" y="1027684"/>
                  </a:cubicBezTo>
                  <a:close/>
                </a:path>
              </a:pathLst>
            </a:custGeom>
            <a:solidFill>
              <a:srgbClr val="C00000"/>
            </a:solidFill>
            <a:ln w="19050" cap="sq">
              <a:solidFill>
                <a:srgbClr val="172C51"/>
              </a:solidFill>
              <a:prstDash val="solid"/>
              <a:miter/>
            </a:ln>
          </p:spPr>
        </p:sp>
      </p:grpSp>
      <p:sp>
        <p:nvSpPr>
          <p:cNvPr name="TextBox 10" id="10"/>
          <p:cNvSpPr txBox="true"/>
          <p:nvPr/>
        </p:nvSpPr>
        <p:spPr>
          <a:xfrm rot="0">
            <a:off x="5413200" y="413604"/>
            <a:ext cx="10124904" cy="779116"/>
          </a:xfrm>
          <a:prstGeom prst="rect">
            <a:avLst/>
          </a:prstGeom>
        </p:spPr>
        <p:txBody>
          <a:bodyPr anchor="t" rtlCol="false" tIns="0" lIns="0" bIns="0" rIns="0">
            <a:spAutoFit/>
          </a:bodyPr>
          <a:lstStyle/>
          <a:p>
            <a:pPr algn="ctr">
              <a:lnSpc>
                <a:spcPts val="5040"/>
              </a:lnSpc>
            </a:pPr>
            <a:r>
              <a:rPr lang="en-US" sz="4200" b="true">
                <a:solidFill>
                  <a:srgbClr val="FFFFFF"/>
                </a:solidFill>
                <a:latin typeface="Calibri (MS) Bold"/>
                <a:ea typeface="Calibri (MS) Bold"/>
                <a:cs typeface="Calibri (MS) Bold"/>
                <a:sym typeface="Calibri (MS) Bold"/>
              </a:rPr>
              <a:t>Hardware and Software requirements</a:t>
            </a:r>
          </a:p>
        </p:txBody>
      </p:sp>
      <p:sp>
        <p:nvSpPr>
          <p:cNvPr name="TextBox 11" id="11"/>
          <p:cNvSpPr txBox="true"/>
          <p:nvPr/>
        </p:nvSpPr>
        <p:spPr>
          <a:xfrm rot="0">
            <a:off x="3384165" y="4410075"/>
            <a:ext cx="12874800" cy="4848225"/>
          </a:xfrm>
          <a:prstGeom prst="rect">
            <a:avLst/>
          </a:prstGeom>
        </p:spPr>
        <p:txBody>
          <a:bodyPr anchor="t" rtlCol="false" tIns="0" lIns="0" bIns="0" rIns="0">
            <a:spAutoFit/>
          </a:bodyPr>
          <a:lstStyle/>
          <a:p>
            <a:pPr algn="l">
              <a:lnSpc>
                <a:spcPts val="2998"/>
              </a:lnSpc>
              <a:spcBef>
                <a:spcPct val="0"/>
              </a:spcBef>
            </a:pPr>
            <a:r>
              <a:rPr lang="en-US" sz="2498">
                <a:solidFill>
                  <a:srgbClr val="000000"/>
                </a:solidFill>
                <a:latin typeface="Calibri (MS)"/>
                <a:ea typeface="Calibri (MS)"/>
                <a:cs typeface="Calibri (MS)"/>
                <a:sym typeface="Calibri (MS)"/>
              </a:rPr>
              <a:t> </a:t>
            </a:r>
            <a:r>
              <a:rPr lang="en-US" b="true" sz="2498">
                <a:solidFill>
                  <a:srgbClr val="000000"/>
                </a:solidFill>
                <a:latin typeface="Calibri (MS) Bold"/>
                <a:ea typeface="Calibri (MS) Bold"/>
                <a:cs typeface="Calibri (MS) Bold"/>
                <a:sym typeface="Calibri (MS) Bold"/>
              </a:rPr>
              <a:t>Software Requirements :</a:t>
            </a:r>
          </a:p>
          <a:p>
            <a:pPr algn="l">
              <a:lnSpc>
                <a:spcPts val="2758"/>
              </a:lnSpc>
              <a:spcBef>
                <a:spcPct val="0"/>
              </a:spcBef>
            </a:pPr>
          </a:p>
          <a:p>
            <a:pPr algn="l" marL="539403" indent="-269701" lvl="1">
              <a:lnSpc>
                <a:spcPts val="2998"/>
              </a:lnSpc>
              <a:spcBef>
                <a:spcPct val="0"/>
              </a:spcBef>
              <a:buFont typeface="Arial"/>
              <a:buChar char="•"/>
            </a:pPr>
            <a:r>
              <a:rPr lang="en-US" sz="2498">
                <a:solidFill>
                  <a:srgbClr val="000000"/>
                </a:solidFill>
                <a:latin typeface="Calibri (MS)"/>
                <a:ea typeface="Calibri (MS)"/>
                <a:cs typeface="Calibri (MS)"/>
                <a:sym typeface="Calibri (MS)"/>
              </a:rPr>
              <a:t>Operating System: Windows 10/11, Linux, or macOS</a:t>
            </a:r>
          </a:p>
          <a:p>
            <a:pPr algn="l" marL="539403" indent="-269701" lvl="1">
              <a:lnSpc>
                <a:spcPts val="2998"/>
              </a:lnSpc>
              <a:spcBef>
                <a:spcPct val="0"/>
              </a:spcBef>
              <a:buFont typeface="Arial"/>
              <a:buChar char="•"/>
            </a:pPr>
            <a:r>
              <a:rPr lang="en-US" sz="2498">
                <a:solidFill>
                  <a:srgbClr val="000000"/>
                </a:solidFill>
                <a:latin typeface="Calibri (MS)"/>
                <a:ea typeface="Calibri (MS)"/>
                <a:cs typeface="Calibri (MS)"/>
                <a:sym typeface="Calibri (MS)"/>
              </a:rPr>
              <a:t>Frontend: React.js, HTML, CSS, JavaScript</a:t>
            </a:r>
          </a:p>
          <a:p>
            <a:pPr algn="l" marL="539403" indent="-269701" lvl="1">
              <a:lnSpc>
                <a:spcPts val="2998"/>
              </a:lnSpc>
              <a:spcBef>
                <a:spcPct val="0"/>
              </a:spcBef>
              <a:buFont typeface="Arial"/>
              <a:buChar char="•"/>
            </a:pPr>
            <a:r>
              <a:rPr lang="en-US" sz="2498">
                <a:solidFill>
                  <a:srgbClr val="000000"/>
                </a:solidFill>
                <a:latin typeface="Calibri (MS)"/>
                <a:ea typeface="Calibri (MS)"/>
                <a:cs typeface="Calibri (MS)"/>
                <a:sym typeface="Calibri (MS)"/>
              </a:rPr>
              <a:t>Backend: Node.js with Express.js</a:t>
            </a:r>
          </a:p>
          <a:p>
            <a:pPr algn="l" marL="539403" indent="-269701" lvl="1">
              <a:lnSpc>
                <a:spcPts val="2998"/>
              </a:lnSpc>
              <a:spcBef>
                <a:spcPct val="0"/>
              </a:spcBef>
              <a:buFont typeface="Arial"/>
              <a:buChar char="•"/>
            </a:pPr>
            <a:r>
              <a:rPr lang="en-US" sz="2498">
                <a:solidFill>
                  <a:srgbClr val="000000"/>
                </a:solidFill>
                <a:latin typeface="Calibri (MS)"/>
                <a:ea typeface="Calibri (MS)"/>
                <a:cs typeface="Calibri (MS)"/>
                <a:sym typeface="Calibri (MS)"/>
              </a:rPr>
              <a:t>Database: MongoDB</a:t>
            </a:r>
          </a:p>
          <a:p>
            <a:pPr algn="l" marL="539403" indent="-269701" lvl="1">
              <a:lnSpc>
                <a:spcPts val="2998"/>
              </a:lnSpc>
              <a:spcBef>
                <a:spcPct val="0"/>
              </a:spcBef>
              <a:buFont typeface="Arial"/>
              <a:buChar char="•"/>
            </a:pPr>
            <a:r>
              <a:rPr lang="en-US" sz="2498">
                <a:solidFill>
                  <a:srgbClr val="000000"/>
                </a:solidFill>
                <a:latin typeface="Calibri (MS)"/>
                <a:ea typeface="Calibri (MS)"/>
                <a:cs typeface="Calibri (MS)"/>
                <a:sym typeface="Calibri (MS)"/>
              </a:rPr>
              <a:t>Programming Language: JavaScript</a:t>
            </a:r>
          </a:p>
          <a:p>
            <a:pPr algn="l" marL="539403" indent="-269701" lvl="1">
              <a:lnSpc>
                <a:spcPts val="2998"/>
              </a:lnSpc>
              <a:spcBef>
                <a:spcPct val="0"/>
              </a:spcBef>
              <a:buFont typeface="Arial"/>
              <a:buChar char="•"/>
            </a:pPr>
            <a:r>
              <a:rPr lang="en-US" sz="2498">
                <a:solidFill>
                  <a:srgbClr val="000000"/>
                </a:solidFill>
                <a:latin typeface="Calibri (MS)"/>
                <a:ea typeface="Calibri (MS)"/>
                <a:cs typeface="Calibri (MS)"/>
                <a:sym typeface="Calibri (MS)"/>
              </a:rPr>
              <a:t>Data Structures &amp; Algorithms: Tokenization, Inverted Index, Jaccard Similarity, Levenshtein Distance, Weighted Matching, and Union-Find</a:t>
            </a:r>
          </a:p>
          <a:p>
            <a:pPr algn="l" marL="539403" indent="-269701" lvl="1">
              <a:lnSpc>
                <a:spcPts val="2998"/>
              </a:lnSpc>
              <a:spcBef>
                <a:spcPct val="0"/>
              </a:spcBef>
              <a:buFont typeface="Arial"/>
              <a:buChar char="•"/>
            </a:pPr>
            <a:r>
              <a:rPr lang="en-US" sz="2498">
                <a:solidFill>
                  <a:srgbClr val="000000"/>
                </a:solidFill>
                <a:latin typeface="Calibri (MS)"/>
                <a:ea typeface="Calibri (MS)"/>
                <a:cs typeface="Calibri (MS)"/>
                <a:sym typeface="Calibri (MS)"/>
              </a:rPr>
              <a:t>Development Environment: Visual Studio Code</a:t>
            </a:r>
          </a:p>
          <a:p>
            <a:pPr algn="l" marL="539403" indent="-269701" lvl="1">
              <a:lnSpc>
                <a:spcPts val="2998"/>
              </a:lnSpc>
              <a:spcBef>
                <a:spcPct val="0"/>
              </a:spcBef>
              <a:buFont typeface="Arial"/>
              <a:buChar char="•"/>
            </a:pPr>
            <a:r>
              <a:rPr lang="en-US" sz="2498">
                <a:solidFill>
                  <a:srgbClr val="000000"/>
                </a:solidFill>
                <a:latin typeface="Calibri (MS)"/>
                <a:ea typeface="Calibri (MS)"/>
                <a:cs typeface="Calibri (MS)"/>
                <a:sym typeface="Calibri (MS)"/>
              </a:rPr>
              <a:t>Version Control: Git and GitHub</a:t>
            </a:r>
          </a:p>
          <a:p>
            <a:pPr algn="l" marL="539403" indent="-269701" lvl="1">
              <a:lnSpc>
                <a:spcPts val="2998"/>
              </a:lnSpc>
              <a:spcBef>
                <a:spcPct val="0"/>
              </a:spcBef>
              <a:buFont typeface="Arial"/>
              <a:buChar char="•"/>
            </a:pPr>
            <a:r>
              <a:rPr lang="en-US" sz="2498">
                <a:solidFill>
                  <a:srgbClr val="000000"/>
                </a:solidFill>
                <a:latin typeface="Calibri (MS)"/>
                <a:ea typeface="Calibri (MS)"/>
                <a:cs typeface="Calibri (MS)"/>
                <a:sym typeface="Calibri (MS)"/>
              </a:rPr>
              <a:t>Web Browser: Google Chrome / Microsoft Edge</a:t>
            </a:r>
          </a:p>
          <a:p>
            <a:pPr algn="l">
              <a:lnSpc>
                <a:spcPts val="2998"/>
              </a:lnSpc>
              <a:spcBef>
                <a:spcPct val="0"/>
              </a:spcBef>
            </a:pPr>
          </a:p>
        </p:txBody>
      </p:sp>
      <p:sp>
        <p:nvSpPr>
          <p:cNvPr name="TextBox 12" id="12"/>
          <p:cNvSpPr txBox="true"/>
          <p:nvPr/>
        </p:nvSpPr>
        <p:spPr>
          <a:xfrm rot="0">
            <a:off x="3521851" y="1485900"/>
            <a:ext cx="9479819" cy="3019425"/>
          </a:xfrm>
          <a:prstGeom prst="rect">
            <a:avLst/>
          </a:prstGeom>
        </p:spPr>
        <p:txBody>
          <a:bodyPr anchor="t" rtlCol="false" tIns="0" lIns="0" bIns="0" rIns="0">
            <a:spAutoFit/>
          </a:bodyPr>
          <a:lstStyle/>
          <a:p>
            <a:pPr algn="l">
              <a:lnSpc>
                <a:spcPts val="2999"/>
              </a:lnSpc>
              <a:spcBef>
                <a:spcPct val="0"/>
              </a:spcBef>
            </a:pPr>
            <a:r>
              <a:rPr lang="en-US" b="true" sz="2499">
                <a:solidFill>
                  <a:srgbClr val="000000"/>
                </a:solidFill>
                <a:latin typeface="Calibri (MS) Bold"/>
                <a:ea typeface="Calibri (MS) Bold"/>
                <a:cs typeface="Calibri (MS) Bold"/>
                <a:sym typeface="Calibri (MS) Bold"/>
              </a:rPr>
              <a:t>Hardware Requirements :</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Processor: Intel Core i3 / AMD Ryzen 3 or above</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RAM: Minimum 4 GB, recommended 8 GB</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Storage: Minimum 10 GB of free space</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Display: 1366 × 768 resolution or higher</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Internet: Stable internet connection for development and data access</a:t>
            </a:r>
          </a:p>
          <a:p>
            <a:pPr algn="l" marL="539749" indent="-269875" lvl="1">
              <a:lnSpc>
                <a:spcPts val="2999"/>
              </a:lnSpc>
              <a:spcBef>
                <a:spcPct val="0"/>
              </a:spcBef>
              <a:buFont typeface="Arial"/>
              <a:buChar char="•"/>
            </a:pPr>
            <a:r>
              <a:rPr lang="en-US" sz="2499">
                <a:solidFill>
                  <a:srgbClr val="000000"/>
                </a:solidFill>
                <a:latin typeface="Calibri (MS)"/>
                <a:ea typeface="Calibri (MS)"/>
                <a:cs typeface="Calibri (MS)"/>
                <a:sym typeface="Calibri (MS)"/>
              </a:rPr>
              <a:t>Input Devices: Keyboard and mouse</a:t>
            </a:r>
          </a:p>
          <a:p>
            <a:pPr algn="l">
              <a:lnSpc>
                <a:spcPts val="299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594642" y="322983"/>
            <a:ext cx="7098725" cy="794899"/>
            <a:chOff x="0" y="0"/>
            <a:chExt cx="9464967" cy="1059866"/>
          </a:xfrm>
        </p:grpSpPr>
        <p:sp>
          <p:nvSpPr>
            <p:cNvPr name="Freeform 9" id="9"/>
            <p:cNvSpPr/>
            <p:nvPr/>
          </p:nvSpPr>
          <p:spPr>
            <a:xfrm flipH="false" flipV="false" rot="0">
              <a:off x="0" y="0"/>
              <a:ext cx="9464928" cy="1059942"/>
            </a:xfrm>
            <a:custGeom>
              <a:avLst/>
              <a:gdLst/>
              <a:ahLst/>
              <a:cxnLst/>
              <a:rect r="r" b="b" t="t" l="l"/>
              <a:pathLst>
                <a:path h="1059942" w="9464928">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name="TextBox 10" id="10"/>
          <p:cNvSpPr txBox="true"/>
          <p:nvPr/>
        </p:nvSpPr>
        <p:spPr>
          <a:xfrm rot="0">
            <a:off x="4081548" y="241849"/>
            <a:ext cx="10124904" cy="871452"/>
          </a:xfrm>
          <a:prstGeom prst="rect">
            <a:avLst/>
          </a:prstGeom>
        </p:spPr>
        <p:txBody>
          <a:bodyPr anchor="t" rtlCol="false" tIns="0" lIns="0" bIns="0" rIns="0">
            <a:spAutoFit/>
          </a:bodyPr>
          <a:lstStyle/>
          <a:p>
            <a:pPr algn="ctr">
              <a:lnSpc>
                <a:spcPts val="5759"/>
              </a:lnSpc>
            </a:pPr>
            <a:r>
              <a:rPr lang="en-US" sz="4800" b="true">
                <a:solidFill>
                  <a:srgbClr val="FFFFFF"/>
                </a:solidFill>
                <a:latin typeface="Calibri (MS) Bold"/>
                <a:ea typeface="Calibri (MS) Bold"/>
                <a:cs typeface="Calibri (MS) Bold"/>
                <a:sym typeface="Calibri (MS) Bold"/>
              </a:rPr>
              <a:t>Conclusion</a:t>
            </a:r>
          </a:p>
        </p:txBody>
      </p:sp>
      <p:sp>
        <p:nvSpPr>
          <p:cNvPr name="TextBox 11" id="11"/>
          <p:cNvSpPr txBox="true"/>
          <p:nvPr/>
        </p:nvSpPr>
        <p:spPr>
          <a:xfrm rot="0">
            <a:off x="2626007" y="1892241"/>
            <a:ext cx="14793926" cy="5940156"/>
          </a:xfrm>
          <a:prstGeom prst="rect">
            <a:avLst/>
          </a:prstGeom>
        </p:spPr>
        <p:txBody>
          <a:bodyPr anchor="t" rtlCol="false" tIns="0" lIns="0" bIns="0" rIns="0">
            <a:spAutoFit/>
          </a:bodyPr>
          <a:lstStyle/>
          <a:p>
            <a:pPr algn="l">
              <a:lnSpc>
                <a:spcPts val="3880"/>
              </a:lnSpc>
              <a:spcBef>
                <a:spcPct val="0"/>
              </a:spcBef>
            </a:pPr>
            <a:r>
              <a:rPr lang="en-US" sz="3233">
                <a:solidFill>
                  <a:srgbClr val="000000"/>
                </a:solidFill>
                <a:latin typeface="Calibri (MS)"/>
                <a:ea typeface="Calibri (MS)"/>
                <a:cs typeface="Calibri (MS)"/>
                <a:sym typeface="Calibri (MS)"/>
              </a:rPr>
              <a:t>The E-Commerce Product Entity-Resolution and Matching Platform provides an efficient solution for identifying and matching similar products across different online stores. By using Data Structures and Algorithms such as tokenization, inverted indexing, Jaccard similarity, Levenshtein distance, weighted matching, and Union-Find, the system can handle variations in product names and descriptions and group related listings accurately.</a:t>
            </a:r>
          </a:p>
          <a:p>
            <a:pPr algn="l">
              <a:lnSpc>
                <a:spcPts val="3880"/>
              </a:lnSpc>
              <a:spcBef>
                <a:spcPct val="0"/>
              </a:spcBef>
            </a:pPr>
            <a:r>
              <a:rPr lang="en-US" sz="3233">
                <a:solidFill>
                  <a:srgbClr val="000000"/>
                </a:solidFill>
                <a:latin typeface="Calibri (MS)"/>
                <a:ea typeface="Calibri (MS)"/>
                <a:cs typeface="Calibri (MS)"/>
                <a:sym typeface="Calibri (MS)"/>
              </a:rPr>
              <a:t>The platform reduces duplicate product records and makes it easier to identify the same product from different sellers. It can also support price comparison by combining matching products into a common group. Overall, the proposed system demonstrates how DSA concepts can be applied to solve a real-world e-commerce problem while improving matching accuracy, search efficiency, and product comparison.</a:t>
            </a:r>
          </a:p>
          <a:p>
            <a:pPr algn="l">
              <a:lnSpc>
                <a:spcPts val="388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594642" y="322983"/>
            <a:ext cx="7098725" cy="794899"/>
            <a:chOff x="0" y="0"/>
            <a:chExt cx="9464967" cy="1059866"/>
          </a:xfrm>
        </p:grpSpPr>
        <p:sp>
          <p:nvSpPr>
            <p:cNvPr name="Freeform 9" id="9"/>
            <p:cNvSpPr/>
            <p:nvPr/>
          </p:nvSpPr>
          <p:spPr>
            <a:xfrm flipH="false" flipV="false" rot="0">
              <a:off x="0" y="0"/>
              <a:ext cx="9464928" cy="1059942"/>
            </a:xfrm>
            <a:custGeom>
              <a:avLst/>
              <a:gdLst/>
              <a:ahLst/>
              <a:cxnLst/>
              <a:rect r="r" b="b" t="t" l="l"/>
              <a:pathLst>
                <a:path h="1059942" w="9464928">
                  <a:moveTo>
                    <a:pt x="0" y="176657"/>
                  </a:moveTo>
                  <a:cubicBezTo>
                    <a:pt x="0" y="79121"/>
                    <a:pt x="79121" y="0"/>
                    <a:pt x="176657" y="0"/>
                  </a:cubicBezTo>
                  <a:lnTo>
                    <a:pt x="9288272" y="0"/>
                  </a:lnTo>
                  <a:cubicBezTo>
                    <a:pt x="9385808" y="0"/>
                    <a:pt x="9464928" y="79121"/>
                    <a:pt x="9464928" y="176657"/>
                  </a:cubicBezTo>
                  <a:lnTo>
                    <a:pt x="9464928" y="883285"/>
                  </a:lnTo>
                  <a:cubicBezTo>
                    <a:pt x="9464928" y="980821"/>
                    <a:pt x="9385808" y="1059942"/>
                    <a:pt x="9288272" y="1059942"/>
                  </a:cubicBezTo>
                  <a:lnTo>
                    <a:pt x="176657" y="1059942"/>
                  </a:lnTo>
                  <a:cubicBezTo>
                    <a:pt x="79121" y="1059815"/>
                    <a:pt x="0" y="980821"/>
                    <a:pt x="0" y="883285"/>
                  </a:cubicBezTo>
                  <a:close/>
                </a:path>
              </a:pathLst>
            </a:custGeom>
            <a:solidFill>
              <a:srgbClr val="C00000"/>
            </a:solidFill>
            <a:ln w="19050" cap="sq">
              <a:solidFill>
                <a:srgbClr val="172C51"/>
              </a:solidFill>
              <a:prstDash val="solid"/>
              <a:miter/>
            </a:ln>
          </p:spPr>
        </p:sp>
      </p:grpSp>
      <p:sp>
        <p:nvSpPr>
          <p:cNvPr name="TextBox 10" id="10"/>
          <p:cNvSpPr txBox="true"/>
          <p:nvPr/>
        </p:nvSpPr>
        <p:spPr>
          <a:xfrm rot="0">
            <a:off x="4081548" y="191195"/>
            <a:ext cx="10124904" cy="871452"/>
          </a:xfrm>
          <a:prstGeom prst="rect">
            <a:avLst/>
          </a:prstGeom>
        </p:spPr>
        <p:txBody>
          <a:bodyPr anchor="t" rtlCol="false" tIns="0" lIns="0" bIns="0" rIns="0">
            <a:spAutoFit/>
          </a:bodyPr>
          <a:lstStyle/>
          <a:p>
            <a:pPr algn="ctr">
              <a:lnSpc>
                <a:spcPts val="5759"/>
              </a:lnSpc>
            </a:pPr>
            <a:r>
              <a:rPr lang="en-US" sz="4800" b="true">
                <a:solidFill>
                  <a:srgbClr val="FFFFFF"/>
                </a:solidFill>
                <a:latin typeface="Calibri (MS) Bold"/>
                <a:ea typeface="Calibri (MS) Bold"/>
                <a:cs typeface="Calibri (MS) Bold"/>
                <a:sym typeface="Calibri (MS) Bold"/>
              </a:rPr>
              <a:t> Future Scope</a:t>
            </a:r>
          </a:p>
        </p:txBody>
      </p:sp>
      <p:sp>
        <p:nvSpPr>
          <p:cNvPr name="TextBox 11" id="11"/>
          <p:cNvSpPr txBox="true"/>
          <p:nvPr/>
        </p:nvSpPr>
        <p:spPr>
          <a:xfrm rot="0">
            <a:off x="2697589" y="1807813"/>
            <a:ext cx="12892831" cy="5981675"/>
          </a:xfrm>
          <a:prstGeom prst="rect">
            <a:avLst/>
          </a:prstGeom>
        </p:spPr>
        <p:txBody>
          <a:bodyPr anchor="t" rtlCol="false" tIns="0" lIns="0" bIns="0" rIns="0">
            <a:spAutoFit/>
          </a:bodyPr>
          <a:lstStyle/>
          <a:p>
            <a:pPr algn="ctr">
              <a:lnSpc>
                <a:spcPts val="3674"/>
              </a:lnSpc>
              <a:spcBef>
                <a:spcPct val="0"/>
              </a:spcBef>
            </a:pPr>
          </a:p>
          <a:p>
            <a:pPr algn="l" marL="661110" indent="-330555" lvl="1">
              <a:lnSpc>
                <a:spcPts val="3674"/>
              </a:lnSpc>
              <a:spcBef>
                <a:spcPct val="0"/>
              </a:spcBef>
              <a:buFont typeface="Arial"/>
              <a:buChar char="•"/>
            </a:pPr>
            <a:r>
              <a:rPr lang="en-US" sz="3062">
                <a:solidFill>
                  <a:srgbClr val="000000"/>
                </a:solidFill>
                <a:latin typeface="Calibri (MS)"/>
                <a:ea typeface="Calibri (MS)"/>
                <a:cs typeface="Calibri (MS)"/>
                <a:sym typeface="Calibri (MS)"/>
              </a:rPr>
              <a:t>AI Integration: Use AI to make product matching more accurate.</a:t>
            </a:r>
          </a:p>
          <a:p>
            <a:pPr algn="l" marL="661110" indent="-330555" lvl="1">
              <a:lnSpc>
                <a:spcPts val="3674"/>
              </a:lnSpc>
              <a:spcBef>
                <a:spcPct val="0"/>
              </a:spcBef>
              <a:buFont typeface="Arial"/>
              <a:buChar char="•"/>
            </a:pPr>
            <a:r>
              <a:rPr lang="en-US" sz="3062">
                <a:solidFill>
                  <a:srgbClr val="000000"/>
                </a:solidFill>
                <a:latin typeface="Calibri (MS)"/>
                <a:ea typeface="Calibri (MS)"/>
                <a:cs typeface="Calibri (MS)"/>
                <a:sym typeface="Calibri (MS)"/>
              </a:rPr>
              <a:t>Live Data: Get updated product prices and details directly from online stores.</a:t>
            </a:r>
          </a:p>
          <a:p>
            <a:pPr algn="l" marL="661110" indent="-330555" lvl="1">
              <a:lnSpc>
                <a:spcPts val="3674"/>
              </a:lnSpc>
              <a:spcBef>
                <a:spcPct val="0"/>
              </a:spcBef>
              <a:buFont typeface="Arial"/>
              <a:buChar char="•"/>
            </a:pPr>
            <a:r>
              <a:rPr lang="en-US" sz="3062">
                <a:solidFill>
                  <a:srgbClr val="000000"/>
                </a:solidFill>
                <a:latin typeface="Calibri (MS)"/>
                <a:ea typeface="Calibri (MS)"/>
                <a:cs typeface="Calibri (MS)"/>
                <a:sym typeface="Calibri (MS)"/>
              </a:rPr>
              <a:t>Better Text Matching: Use advanced language techniques to understand product names and descriptions better.</a:t>
            </a:r>
          </a:p>
          <a:p>
            <a:pPr algn="l" marL="661110" indent="-330555" lvl="1">
              <a:lnSpc>
                <a:spcPts val="3674"/>
              </a:lnSpc>
              <a:spcBef>
                <a:spcPct val="0"/>
              </a:spcBef>
              <a:buFont typeface="Arial"/>
              <a:buChar char="•"/>
            </a:pPr>
            <a:r>
              <a:rPr lang="en-US" sz="3062">
                <a:solidFill>
                  <a:srgbClr val="000000"/>
                </a:solidFill>
                <a:latin typeface="Calibri (MS)"/>
                <a:ea typeface="Calibri (MS)"/>
                <a:cs typeface="Calibri (MS)"/>
                <a:sym typeface="Calibri (MS)"/>
              </a:rPr>
              <a:t>More Products: Improve the system to handle a very large number of products.</a:t>
            </a:r>
          </a:p>
          <a:p>
            <a:pPr algn="l" marL="661110" indent="-330555" lvl="1">
              <a:lnSpc>
                <a:spcPts val="3674"/>
              </a:lnSpc>
              <a:spcBef>
                <a:spcPct val="0"/>
              </a:spcBef>
              <a:buFont typeface="Arial"/>
              <a:buChar char="•"/>
            </a:pPr>
            <a:r>
              <a:rPr lang="en-US" sz="3062">
                <a:solidFill>
                  <a:srgbClr val="000000"/>
                </a:solidFill>
                <a:latin typeface="Calibri (MS)"/>
                <a:ea typeface="Calibri (MS)"/>
                <a:cs typeface="Calibri (MS)"/>
                <a:sym typeface="Calibri (MS)"/>
              </a:rPr>
              <a:t>Price Tracking: Track price changes, discounts, and offers.</a:t>
            </a:r>
          </a:p>
          <a:p>
            <a:pPr algn="l" marL="661110" indent="-330555" lvl="1">
              <a:lnSpc>
                <a:spcPts val="3674"/>
              </a:lnSpc>
              <a:spcBef>
                <a:spcPct val="0"/>
              </a:spcBef>
              <a:buFont typeface="Arial"/>
              <a:buChar char="•"/>
            </a:pPr>
            <a:r>
              <a:rPr lang="en-US" sz="3062">
                <a:solidFill>
                  <a:srgbClr val="000000"/>
                </a:solidFill>
                <a:latin typeface="Calibri (MS)"/>
                <a:ea typeface="Calibri (MS)"/>
                <a:cs typeface="Calibri (MS)"/>
                <a:sym typeface="Calibri (MS)"/>
              </a:rPr>
              <a:t>Product Recommendations: Suggest similar or useful products to users.</a:t>
            </a:r>
          </a:p>
          <a:p>
            <a:pPr algn="l" marL="661110" indent="-330555" lvl="1">
              <a:lnSpc>
                <a:spcPts val="3674"/>
              </a:lnSpc>
              <a:spcBef>
                <a:spcPct val="0"/>
              </a:spcBef>
              <a:buFont typeface="Arial"/>
              <a:buChar char="•"/>
            </a:pPr>
            <a:r>
              <a:rPr lang="en-US" sz="3062">
                <a:solidFill>
                  <a:srgbClr val="000000"/>
                </a:solidFill>
                <a:latin typeface="Calibri (MS)"/>
                <a:ea typeface="Calibri (MS)"/>
                <a:cs typeface="Calibri (MS)"/>
                <a:sym typeface="Calibri (MS)"/>
              </a:rPr>
              <a:t>Image Matching: Match products using their images along with their names and descriptions.</a:t>
            </a:r>
          </a:p>
          <a:p>
            <a:pPr algn="l" marL="661110" indent="-330555" lvl="1">
              <a:lnSpc>
                <a:spcPts val="3674"/>
              </a:lnSpc>
              <a:spcBef>
                <a:spcPct val="0"/>
              </a:spcBef>
              <a:buFont typeface="Arial"/>
              <a:buChar char="•"/>
            </a:pPr>
            <a:r>
              <a:rPr lang="en-US" sz="3062">
                <a:solidFill>
                  <a:srgbClr val="000000"/>
                </a:solidFill>
                <a:latin typeface="Calibri (MS)"/>
                <a:ea typeface="Calibri (MS)"/>
                <a:cs typeface="Calibri (MS)"/>
                <a:sym typeface="Calibri (MS)"/>
              </a:rPr>
              <a:t>Mobile App: Develop a mobile application for easier product comparison.</a:t>
            </a:r>
          </a:p>
          <a:p>
            <a:pPr algn="ctr">
              <a:lnSpc>
                <a:spcPts val="3674"/>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E5D6"/>
        </a:solidFill>
      </p:bgPr>
    </p:bg>
    <p:spTree>
      <p:nvGrpSpPr>
        <p:cNvPr id="1" name=""/>
        <p:cNvGrpSpPr/>
        <p:nvPr/>
      </p:nvGrpSpPr>
      <p:grpSpPr>
        <a:xfrm>
          <a:off x="0" y="0"/>
          <a:ext cx="0" cy="0"/>
          <a:chOff x="0" y="0"/>
          <a:chExt cx="0" cy="0"/>
        </a:xfrm>
      </p:grpSpPr>
      <p:grpSp>
        <p:nvGrpSpPr>
          <p:cNvPr name="Group 2" id="2"/>
          <p:cNvGrpSpPr/>
          <p:nvPr/>
        </p:nvGrpSpPr>
        <p:grpSpPr>
          <a:xfrm rot="0">
            <a:off x="0" y="66675"/>
            <a:ext cx="3152775" cy="1350169"/>
            <a:chOff x="0" y="0"/>
            <a:chExt cx="4203700" cy="1800225"/>
          </a:xfrm>
        </p:grpSpPr>
        <p:sp>
          <p:nvSpPr>
            <p:cNvPr name="Freeform 3" id="3" descr="KL University Hyderabad"/>
            <p:cNvSpPr/>
            <p:nvPr/>
          </p:nvSpPr>
          <p:spPr>
            <a:xfrm flipH="false" flipV="false" rot="0">
              <a:off x="0" y="0"/>
              <a:ext cx="4203700" cy="1800225"/>
            </a:xfrm>
            <a:custGeom>
              <a:avLst/>
              <a:gdLst/>
              <a:ahLst/>
              <a:cxnLst/>
              <a:rect r="r" b="b" t="t" l="l"/>
              <a:pathLst>
                <a:path h="1800225" w="4203700">
                  <a:moveTo>
                    <a:pt x="0" y="0"/>
                  </a:moveTo>
                  <a:lnTo>
                    <a:pt x="4203700" y="0"/>
                  </a:lnTo>
                  <a:lnTo>
                    <a:pt x="4203700" y="1800225"/>
                  </a:lnTo>
                  <a:lnTo>
                    <a:pt x="0" y="1800225"/>
                  </a:lnTo>
                  <a:lnTo>
                    <a:pt x="0" y="0"/>
                  </a:lnTo>
                  <a:close/>
                </a:path>
              </a:pathLst>
            </a:custGeom>
            <a:blipFill>
              <a:blip r:embed="rId2"/>
              <a:stretch>
                <a:fillRect l="0" t="0" r="0" b="-75"/>
              </a:stretch>
            </a:blipFill>
          </p:spPr>
        </p:sp>
      </p:grpSp>
      <p:grpSp>
        <p:nvGrpSpPr>
          <p:cNvPr name="Group 4" id="4"/>
          <p:cNvGrpSpPr/>
          <p:nvPr/>
        </p:nvGrpSpPr>
        <p:grpSpPr>
          <a:xfrm rot="0">
            <a:off x="0" y="10217944"/>
            <a:ext cx="18288000" cy="69056"/>
            <a:chOff x="0" y="0"/>
            <a:chExt cx="24384000" cy="92075"/>
          </a:xfrm>
        </p:grpSpPr>
        <p:sp>
          <p:nvSpPr>
            <p:cNvPr name="Freeform 5" id="5"/>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6" id="6"/>
          <p:cNvGrpSpPr/>
          <p:nvPr/>
        </p:nvGrpSpPr>
        <p:grpSpPr>
          <a:xfrm rot="0">
            <a:off x="0" y="0"/>
            <a:ext cx="18288000" cy="69056"/>
            <a:chOff x="0" y="0"/>
            <a:chExt cx="24384000" cy="92075"/>
          </a:xfrm>
        </p:grpSpPr>
        <p:sp>
          <p:nvSpPr>
            <p:cNvPr name="Freeform 7" id="7"/>
            <p:cNvSpPr/>
            <p:nvPr/>
          </p:nvSpPr>
          <p:spPr>
            <a:xfrm flipH="false" flipV="false" rot="0">
              <a:off x="0" y="0"/>
              <a:ext cx="24384000" cy="92075"/>
            </a:xfrm>
            <a:custGeom>
              <a:avLst/>
              <a:gdLst/>
              <a:ahLst/>
              <a:cxnLst/>
              <a:rect r="r" b="b" t="t" l="l"/>
              <a:pathLst>
                <a:path h="92075" w="24384000">
                  <a:moveTo>
                    <a:pt x="0" y="0"/>
                  </a:moveTo>
                  <a:lnTo>
                    <a:pt x="24384000" y="0"/>
                  </a:lnTo>
                  <a:lnTo>
                    <a:pt x="24384000" y="92075"/>
                  </a:lnTo>
                  <a:lnTo>
                    <a:pt x="0" y="92075"/>
                  </a:lnTo>
                  <a:close/>
                </a:path>
              </a:pathLst>
            </a:custGeom>
            <a:solidFill>
              <a:srgbClr val="BA2532"/>
            </a:solidFill>
          </p:spPr>
        </p:sp>
      </p:grpSp>
      <p:grpSp>
        <p:nvGrpSpPr>
          <p:cNvPr name="Group 8" id="8"/>
          <p:cNvGrpSpPr/>
          <p:nvPr/>
        </p:nvGrpSpPr>
        <p:grpSpPr>
          <a:xfrm rot="0">
            <a:off x="5594633" y="3919538"/>
            <a:ext cx="7438425" cy="2055781"/>
            <a:chOff x="0" y="0"/>
            <a:chExt cx="9917900" cy="2741041"/>
          </a:xfrm>
        </p:grpSpPr>
        <p:sp>
          <p:nvSpPr>
            <p:cNvPr name="Freeform 9" id="9"/>
            <p:cNvSpPr/>
            <p:nvPr/>
          </p:nvSpPr>
          <p:spPr>
            <a:xfrm flipH="false" flipV="false" rot="0">
              <a:off x="0" y="0"/>
              <a:ext cx="9917938" cy="2741041"/>
            </a:xfrm>
            <a:custGeom>
              <a:avLst/>
              <a:gdLst/>
              <a:ahLst/>
              <a:cxnLst/>
              <a:rect r="r" b="b" t="t" l="l"/>
              <a:pathLst>
                <a:path h="2741041" w="9917938">
                  <a:moveTo>
                    <a:pt x="0" y="456819"/>
                  </a:moveTo>
                  <a:cubicBezTo>
                    <a:pt x="0" y="204597"/>
                    <a:pt x="204597" y="0"/>
                    <a:pt x="456819" y="0"/>
                  </a:cubicBezTo>
                  <a:lnTo>
                    <a:pt x="9461119" y="0"/>
                  </a:lnTo>
                  <a:cubicBezTo>
                    <a:pt x="9713468" y="0"/>
                    <a:pt x="9917938" y="204597"/>
                    <a:pt x="9917938" y="456819"/>
                  </a:cubicBezTo>
                  <a:lnTo>
                    <a:pt x="9917938" y="2284222"/>
                  </a:lnTo>
                  <a:cubicBezTo>
                    <a:pt x="9917938" y="2536571"/>
                    <a:pt x="9713340" y="2741041"/>
                    <a:pt x="9461119" y="2741041"/>
                  </a:cubicBezTo>
                  <a:lnTo>
                    <a:pt x="456819" y="2741041"/>
                  </a:lnTo>
                  <a:cubicBezTo>
                    <a:pt x="204597" y="2741041"/>
                    <a:pt x="0" y="2536444"/>
                    <a:pt x="0" y="2284222"/>
                  </a:cubicBezTo>
                  <a:close/>
                </a:path>
              </a:pathLst>
            </a:custGeom>
            <a:solidFill>
              <a:srgbClr val="C00000"/>
            </a:solidFill>
            <a:ln w="19050" cap="sq">
              <a:solidFill>
                <a:srgbClr val="172C51"/>
              </a:solidFill>
              <a:prstDash val="solid"/>
              <a:miter/>
            </a:ln>
          </p:spPr>
        </p:sp>
        <p:sp>
          <p:nvSpPr>
            <p:cNvPr name="TextBox 10" id="10"/>
            <p:cNvSpPr txBox="true"/>
            <p:nvPr/>
          </p:nvSpPr>
          <p:spPr>
            <a:xfrm>
              <a:off x="0" y="-85725"/>
              <a:ext cx="9917900" cy="2826766"/>
            </a:xfrm>
            <a:prstGeom prst="rect">
              <a:avLst/>
            </a:prstGeom>
          </p:spPr>
          <p:txBody>
            <a:bodyPr anchor="ctr" rtlCol="false" tIns="50800" lIns="50800" bIns="50800" rIns="50800"/>
            <a:lstStyle/>
            <a:p>
              <a:pPr algn="ctr">
                <a:lnSpc>
                  <a:spcPts val="5759"/>
                </a:lnSpc>
              </a:pPr>
              <a:r>
                <a:rPr lang="en-US" sz="4800" b="true">
                  <a:solidFill>
                    <a:srgbClr val="FFFFFF"/>
                  </a:solidFill>
                  <a:latin typeface="Calibri (MS) Bold"/>
                  <a:ea typeface="Calibri (MS) Bold"/>
                  <a:cs typeface="Calibri (MS) Bold"/>
                  <a:sym typeface="Calibri (MS)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DAHU3ZXQXnI</dc:identifier>
  <dcterms:modified xsi:type="dcterms:W3CDTF">2011-08-01T06:04:30Z</dcterms:modified>
  <cp:revision>1</cp:revision>
  <dc:title>DSA-3_Project PPT (1).pptx</dc:title>
</cp:coreProperties>
</file>